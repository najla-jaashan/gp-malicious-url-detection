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67" r:id="rId14"/>
    <p:sldId id="268" r:id="rId15"/>
    <p:sldId id="269"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FFFFF"/>
                </a:solidFill>
                <a:latin typeface="Calibri"/>
              </a:defRPr>
            </a:pPr>
            <a:r>
              <a:rPr sz="1400" b="0" i="0" u="none" strike="noStrike">
                <a:solidFill>
                  <a:srgbClr val="FFFFFF"/>
                </a:solidFill>
                <a:latin typeface="Calibri"/>
              </a:rPr>
              <a:t>F1-Score by Class</a:t>
            </a:r>
          </a:p>
        </c:rich>
      </c:tx>
      <c:overlay val="0"/>
    </c:title>
    <c:autoTitleDeleted val="0"/>
    <c:plotArea>
      <c:layout/>
      <c:barChart>
        <c:barDir val="col"/>
        <c:grouping val="clustered"/>
        <c:varyColors val="0"/>
        <c:ser>
          <c:idx val="0"/>
          <c:order val="0"/>
          <c:tx>
            <c:strRef>
              <c:f>Sheet1!$B$1</c:f>
              <c:strCache>
                <c:ptCount val="1"/>
                <c:pt idx="0">
                  <c:v>F1-Score</c:v>
                </c:pt>
              </c:strCache>
            </c:strRef>
          </c:tx>
          <c:spPr>
            <a:solidFill>
              <a:srgbClr val="00C2A8"/>
            </a:solidFill>
            <a:effectLst/>
          </c:spPr>
          <c:invertIfNegative val="0"/>
          <c:dLbls>
            <c:numFmt formatCode="0.00%" sourceLinked="0"/>
            <c:spPr>
              <a:noFill/>
              <a:ln>
                <a:noFill/>
              </a:ln>
              <a:effectLst/>
            </c:spPr>
            <c:txPr>
              <a:bodyPr/>
              <a:lstStyle/>
              <a:p>
                <a:pPr>
                  <a:defRPr sz="1100" b="0" i="0" u="none" strike="noStrike">
                    <a:solidFill>
                      <a:srgbClr val="FFFFFF"/>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Benign</c:v>
                </c:pt>
                <c:pt idx="1">
                  <c:v>Phishing</c:v>
                </c:pt>
                <c:pt idx="2">
                  <c:v>Malware</c:v>
                </c:pt>
                <c:pt idx="3">
                  <c:v>Defacement</c:v>
                </c:pt>
              </c:strCache>
            </c:strRef>
          </c:cat>
          <c:val>
            <c:numRef>
              <c:f>Sheet1!$B$2:$B$5</c:f>
              <c:numCache>
                <c:formatCode>General</c:formatCode>
                <c:ptCount val="4"/>
                <c:pt idx="0">
                  <c:v>0.99329999999999996</c:v>
                </c:pt>
                <c:pt idx="1">
                  <c:v>0.96189999999999998</c:v>
                </c:pt>
                <c:pt idx="2">
                  <c:v>0.98050000000000004</c:v>
                </c:pt>
                <c:pt idx="3">
                  <c:v>0.99819999999999998</c:v>
                </c:pt>
              </c:numCache>
            </c:numRef>
          </c:val>
          <c:extLst>
            <c:ext xmlns:c16="http://schemas.microsoft.com/office/drawing/2014/chart" uri="{C3380CC4-5D6E-409C-BE32-E72D297353CC}">
              <c16:uniqueId val="{00000000-F6B8-9F41-B539-B65F48A87C85}"/>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C9D8E3"/>
                </a:solidFill>
                <a:latin typeface="Arial"/>
              </a:defRPr>
            </a:pPr>
            <a:endParaRPr lang="en-US"/>
          </a:p>
        </c:txPr>
        <c:crossAx val="2094734552"/>
        <c:crosses val="autoZero"/>
        <c:auto val="1"/>
        <c:lblAlgn val="ctr"/>
        <c:lblOffset val="100"/>
        <c:noMultiLvlLbl val="1"/>
      </c:catAx>
      <c:valAx>
        <c:axId val="2094734552"/>
        <c:scaling>
          <c:orientation val="minMax"/>
          <c:max val="1"/>
          <c:min val="0.9"/>
        </c:scaling>
        <c:delete val="0"/>
        <c:axPos val="l"/>
        <c:majorGridlines>
          <c:spPr>
            <a:ln w="9525" cap="flat">
              <a:solidFill>
                <a:srgbClr val="233A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C9D8E3"/>
                </a:solidFill>
                <a:latin typeface="Arial"/>
              </a:defRPr>
            </a:pPr>
            <a:endParaRPr lang="en-US"/>
          </a:p>
        </c:txPr>
        <c:crossAx val="2094734554"/>
        <c:crosses val="autoZero"/>
        <c:crossBetween val="between"/>
      </c:valAx>
      <c:spPr>
        <a:solidFill>
          <a:srgbClr val="0B1F3A"/>
        </a:solidFill>
        <a:ln>
          <a:noFill/>
        </a:ln>
        <a:effectLst/>
      </c:spPr>
    </c:plotArea>
    <c:plotVisOnly val="1"/>
    <c:dispBlanksAs val="span"/>
    <c:showDLblsOverMax val="1"/>
  </c:chart>
  <c:spPr>
    <a:solidFill>
      <a:srgbClr val="0B1F3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SA"/>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A2D1FB1C-E366-0548-8C3E-255D39A25857}" type="datetimeFigureOut">
              <a:rPr lang="en-SA" smtClean="0"/>
              <a:t>31/07/2026 R</a:t>
            </a:fld>
            <a:endParaRPr lang="en-SA"/>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SA"/>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SA"/>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24240760-F6A4-544F-82AD-CDBEEEF9E203}" type="slidenum">
              <a:rPr lang="en-SA" smtClean="0"/>
              <a:t>‹#›</a:t>
            </a:fld>
            <a:endParaRPr lang="en-SA"/>
          </a:p>
        </p:txBody>
      </p:sp>
    </p:spTree>
    <p:extLst>
      <p:ext uri="{BB962C8B-B14F-4D97-AF65-F5344CB8AC3E}">
        <p14:creationId xmlns:p14="http://schemas.microsoft.com/office/powerpoint/2010/main" val="2929364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029200" cy="5029200"/>
          </a:xfrm>
          <a:prstGeom prst="ellipse">
            <a:avLst/>
          </a:prstGeom>
          <a:solidFill>
            <a:srgbClr val="065A82">
              <a:alpha val="35000"/>
            </a:srgbClr>
          </a:solidFill>
          <a:ln/>
        </p:spPr>
      </p:sp>
      <p:sp>
        <p:nvSpPr>
          <p:cNvPr id="3" name="Shape 1"/>
          <p:cNvSpPr/>
          <p:nvPr/>
        </p:nvSpPr>
        <p:spPr>
          <a:xfrm>
            <a:off x="10241280" y="2926080"/>
            <a:ext cx="3291840" cy="3291840"/>
          </a:xfrm>
          <a:prstGeom prst="ellipse">
            <a:avLst/>
          </a:prstGeom>
          <a:solidFill>
            <a:srgbClr val="00C2A8">
              <a:alpha val="20000"/>
            </a:srgbClr>
          </a:solidFill>
          <a:ln/>
        </p:spPr>
      </p:sp>
      <p:pic>
        <p:nvPicPr>
          <p:cNvPr id="4" name="Image 0" descr="/home/claude/pptx_work2/logo.png"/>
          <p:cNvPicPr>
            <a:picLocks noChangeAspect="1"/>
          </p:cNvPicPr>
          <p:nvPr/>
        </p:nvPicPr>
        <p:blipFill>
          <a:blip r:embed="rId3"/>
          <a:stretch>
            <a:fillRect/>
          </a:stretch>
        </p:blipFill>
        <p:spPr>
          <a:xfrm>
            <a:off x="640080" y="384048"/>
            <a:ext cx="1325880" cy="1463040"/>
          </a:xfrm>
          <a:prstGeom prst="rect">
            <a:avLst/>
          </a:prstGeom>
        </p:spPr>
      </p:pic>
      <p:sp>
        <p:nvSpPr>
          <p:cNvPr id="5" name="Text 2"/>
          <p:cNvSpPr/>
          <p:nvPr/>
        </p:nvSpPr>
        <p:spPr>
          <a:xfrm>
            <a:off x="2148840" y="685800"/>
            <a:ext cx="4572000" cy="365760"/>
          </a:xfrm>
          <a:prstGeom prst="rect">
            <a:avLst/>
          </a:prstGeom>
          <a:noFill/>
          <a:ln/>
        </p:spPr>
        <p:txBody>
          <a:bodyPr wrap="square" rtlCol="0" anchor="ctr"/>
          <a:lstStyle/>
          <a:p>
            <a:pPr marL="0" indent="0">
              <a:buNone/>
            </a:pPr>
            <a:r>
              <a:rPr lang="en-US" sz="1400" b="1" dirty="0">
                <a:solidFill>
                  <a:srgbClr val="C9D8E3"/>
                </a:solidFill>
                <a:latin typeface="Calibri" pitchFamily="34" charset="0"/>
                <a:ea typeface="Calibri" pitchFamily="34" charset="-122"/>
                <a:cs typeface="Calibri" pitchFamily="34" charset="-120"/>
              </a:rPr>
              <a:t>University of Bisha</a:t>
            </a:r>
            <a:endParaRPr lang="en-US" sz="1400" dirty="0"/>
          </a:p>
        </p:txBody>
      </p:sp>
      <p:sp>
        <p:nvSpPr>
          <p:cNvPr id="6" name="Text 3"/>
          <p:cNvSpPr/>
          <p:nvPr/>
        </p:nvSpPr>
        <p:spPr>
          <a:xfrm>
            <a:off x="2148840" y="1051560"/>
            <a:ext cx="5486400" cy="365760"/>
          </a:xfrm>
          <a:prstGeom prst="rect">
            <a:avLst/>
          </a:prstGeom>
          <a:noFill/>
          <a:ln/>
        </p:spPr>
        <p:txBody>
          <a:bodyPr wrap="square" rtlCol="0" anchor="ctr"/>
          <a:lstStyle/>
          <a:p>
            <a:pPr marL="0" indent="0">
              <a:buNone/>
            </a:pPr>
            <a:r>
              <a:rPr lang="en-US" sz="1150" dirty="0">
                <a:solidFill>
                  <a:srgbClr val="9FB4C4"/>
                </a:solidFill>
                <a:latin typeface="Calibri" pitchFamily="34" charset="0"/>
                <a:ea typeface="Calibri" pitchFamily="34" charset="-122"/>
                <a:cs typeface="Calibri" pitchFamily="34" charset="-120"/>
              </a:rPr>
              <a:t>College of Computing and Information Technology</a:t>
            </a:r>
            <a:endParaRPr lang="en-US" sz="1150" dirty="0"/>
          </a:p>
        </p:txBody>
      </p:sp>
      <p:sp>
        <p:nvSpPr>
          <p:cNvPr id="7" name="Text 4"/>
          <p:cNvSpPr/>
          <p:nvPr/>
        </p:nvSpPr>
        <p:spPr>
          <a:xfrm>
            <a:off x="640080" y="2148840"/>
            <a:ext cx="5486400" cy="365760"/>
          </a:xfrm>
          <a:prstGeom prst="rect">
            <a:avLst/>
          </a:prstGeom>
          <a:noFill/>
          <a:ln/>
        </p:spPr>
        <p:txBody>
          <a:bodyPr wrap="square" rtlCol="0" anchor="ctr"/>
          <a:lstStyle/>
          <a:p>
            <a:pPr marL="0" indent="0">
              <a:buNone/>
            </a:pPr>
            <a:r>
              <a:rPr lang="en-US" sz="1300" b="1" kern="0" spc="300" dirty="0">
                <a:solidFill>
                  <a:srgbClr val="00C2A8"/>
                </a:solidFill>
                <a:latin typeface="Calibri" pitchFamily="34" charset="0"/>
                <a:ea typeface="Calibri" pitchFamily="34" charset="-122"/>
                <a:cs typeface="Calibri" pitchFamily="34" charset="-120"/>
              </a:rPr>
              <a:t>GRADUATION PROJECT</a:t>
            </a:r>
            <a:endParaRPr lang="en-US" sz="1300" dirty="0"/>
          </a:p>
        </p:txBody>
      </p:sp>
      <p:sp>
        <p:nvSpPr>
          <p:cNvPr id="8" name="Text 5"/>
          <p:cNvSpPr/>
          <p:nvPr/>
        </p:nvSpPr>
        <p:spPr>
          <a:xfrm>
            <a:off x="640080" y="2514600"/>
            <a:ext cx="10789920" cy="1188720"/>
          </a:xfrm>
          <a:prstGeom prst="rect">
            <a:avLst/>
          </a:prstGeom>
          <a:noFill/>
          <a:ln/>
        </p:spPr>
        <p:txBody>
          <a:bodyPr wrap="square" rtlCol="0" anchor="ctr"/>
          <a:lstStyle/>
          <a:p>
            <a:pPr marL="0" indent="0">
              <a:lnSpc>
                <a:spcPct val="105000"/>
              </a:lnSpc>
              <a:buNone/>
            </a:pPr>
            <a:r>
              <a:rPr lang="en-US" sz="3400" b="1" dirty="0">
                <a:solidFill>
                  <a:srgbClr val="FFFFFF"/>
                </a:solidFill>
                <a:latin typeface="Cambria" pitchFamily="34" charset="0"/>
                <a:ea typeface="Cambria" pitchFamily="34" charset="-122"/>
                <a:cs typeface="Cambria" pitchFamily="34" charset="-120"/>
              </a:rPr>
              <a:t>Malicious URL Detection with DistilBERT</a:t>
            </a:r>
            <a:endParaRPr lang="en-US" sz="3400" dirty="0"/>
          </a:p>
        </p:txBody>
      </p:sp>
      <p:sp>
        <p:nvSpPr>
          <p:cNvPr id="9" name="Text 6"/>
          <p:cNvSpPr/>
          <p:nvPr/>
        </p:nvSpPr>
        <p:spPr>
          <a:xfrm>
            <a:off x="640080" y="3703320"/>
            <a:ext cx="5486400" cy="365760"/>
          </a:xfrm>
          <a:prstGeom prst="rect">
            <a:avLst/>
          </a:prstGeom>
          <a:noFill/>
          <a:ln/>
        </p:spPr>
        <p:txBody>
          <a:bodyPr wrap="square" rtlCol="0" anchor="ctr"/>
          <a:lstStyle/>
          <a:p>
            <a:pPr marL="0" indent="0">
              <a:buNone/>
            </a:pPr>
            <a:r>
              <a:rPr lang="en-US" sz="1400" i="1" dirty="0">
                <a:solidFill>
                  <a:srgbClr val="CFE6EF"/>
                </a:solidFill>
                <a:latin typeface="Calibri" pitchFamily="34" charset="0"/>
                <a:ea typeface="Calibri" pitchFamily="34" charset="-122"/>
                <a:cs typeface="Calibri" pitchFamily="34" charset="-120"/>
              </a:rPr>
              <a:t>Supervised by: Dr. Ali Almaliki</a:t>
            </a:r>
            <a:endParaRPr lang="en-US" sz="1400" dirty="0"/>
          </a:p>
        </p:txBody>
      </p:sp>
      <p:sp>
        <p:nvSpPr>
          <p:cNvPr id="10" name="Text 7"/>
          <p:cNvSpPr/>
          <p:nvPr/>
        </p:nvSpPr>
        <p:spPr>
          <a:xfrm>
            <a:off x="640080" y="4160520"/>
            <a:ext cx="3657600" cy="320040"/>
          </a:xfrm>
          <a:prstGeom prst="rect">
            <a:avLst/>
          </a:prstGeom>
          <a:noFill/>
          <a:ln/>
        </p:spPr>
        <p:txBody>
          <a:bodyPr wrap="square" rtlCol="0" anchor="ctr"/>
          <a:lstStyle/>
          <a:p>
            <a:pPr marL="0" indent="0">
              <a:buNone/>
            </a:pPr>
            <a:r>
              <a:rPr lang="en-US" sz="1200" b="1" kern="0" spc="100" dirty="0">
                <a:solidFill>
                  <a:srgbClr val="00C2A8"/>
                </a:solidFill>
                <a:latin typeface="Calibri" pitchFamily="34" charset="0"/>
                <a:ea typeface="Calibri" pitchFamily="34" charset="-122"/>
                <a:cs typeface="Calibri" pitchFamily="34" charset="-120"/>
              </a:rPr>
              <a:t>Prepared by</a:t>
            </a:r>
            <a:endParaRPr lang="en-US" sz="1200" dirty="0"/>
          </a:p>
        </p:txBody>
      </p:sp>
      <p:sp>
        <p:nvSpPr>
          <p:cNvPr id="11" name="Text 8"/>
          <p:cNvSpPr/>
          <p:nvPr/>
        </p:nvSpPr>
        <p:spPr>
          <a:xfrm>
            <a:off x="640080" y="4526280"/>
            <a:ext cx="544068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Hajar Hajd Alharthi</a:t>
            </a:r>
            <a:r>
              <a:rPr lang="en-US" sz="1100" dirty="0">
                <a:solidFill>
                  <a:srgbClr val="8FC3D6"/>
                </a:solidFill>
                <a:latin typeface="Courier New" pitchFamily="34" charset="0"/>
                <a:ea typeface="Courier New" pitchFamily="34" charset="-122"/>
                <a:cs typeface="Courier New" pitchFamily="34" charset="-120"/>
              </a:rPr>
              <a:t>   444802005</a:t>
            </a:r>
            <a:endParaRPr lang="en-US" sz="1200" dirty="0"/>
          </a:p>
        </p:txBody>
      </p:sp>
      <p:sp>
        <p:nvSpPr>
          <p:cNvPr id="12" name="Text 9"/>
          <p:cNvSpPr/>
          <p:nvPr/>
        </p:nvSpPr>
        <p:spPr>
          <a:xfrm>
            <a:off x="6355080" y="4526280"/>
            <a:ext cx="544068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Najla Mohammed Gaashan</a:t>
            </a:r>
            <a:r>
              <a:rPr lang="en-US" sz="1100" dirty="0">
                <a:solidFill>
                  <a:srgbClr val="8FC3D6"/>
                </a:solidFill>
                <a:latin typeface="Courier New" pitchFamily="34" charset="0"/>
                <a:ea typeface="Courier New" pitchFamily="34" charset="-122"/>
                <a:cs typeface="Courier New" pitchFamily="34" charset="-120"/>
              </a:rPr>
              <a:t>   444806513</a:t>
            </a:r>
            <a:endParaRPr lang="en-US" sz="1200" dirty="0"/>
          </a:p>
        </p:txBody>
      </p:sp>
      <p:sp>
        <p:nvSpPr>
          <p:cNvPr id="13" name="Text 10"/>
          <p:cNvSpPr/>
          <p:nvPr/>
        </p:nvSpPr>
        <p:spPr>
          <a:xfrm>
            <a:off x="640080" y="5001768"/>
            <a:ext cx="544068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Asma Masoud Alshahrani</a:t>
            </a:r>
            <a:r>
              <a:rPr lang="en-US" sz="1100" dirty="0">
                <a:solidFill>
                  <a:srgbClr val="8FC3D6"/>
                </a:solidFill>
                <a:latin typeface="Courier New" pitchFamily="34" charset="0"/>
                <a:ea typeface="Courier New" pitchFamily="34" charset="-122"/>
                <a:cs typeface="Courier New" pitchFamily="34" charset="-120"/>
              </a:rPr>
              <a:t>   443801321</a:t>
            </a:r>
            <a:endParaRPr lang="en-US" sz="1200" dirty="0"/>
          </a:p>
        </p:txBody>
      </p:sp>
      <p:sp>
        <p:nvSpPr>
          <p:cNvPr id="14" name="Text 11"/>
          <p:cNvSpPr/>
          <p:nvPr/>
        </p:nvSpPr>
        <p:spPr>
          <a:xfrm>
            <a:off x="6355080" y="5001768"/>
            <a:ext cx="544068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Rawan Mohammed Alharthi</a:t>
            </a:r>
            <a:r>
              <a:rPr lang="en-US" sz="1100" dirty="0">
                <a:solidFill>
                  <a:srgbClr val="8FC3D6"/>
                </a:solidFill>
                <a:latin typeface="Courier New" pitchFamily="34" charset="0"/>
                <a:ea typeface="Courier New" pitchFamily="34" charset="-122"/>
                <a:cs typeface="Courier New" pitchFamily="34" charset="-120"/>
              </a:rPr>
              <a:t>   443801335</a:t>
            </a:r>
            <a:endParaRPr lang="en-US" sz="1200" dirty="0"/>
          </a:p>
        </p:txBody>
      </p:sp>
      <p:sp>
        <p:nvSpPr>
          <p:cNvPr id="15" name="Text 12"/>
          <p:cNvSpPr/>
          <p:nvPr/>
        </p:nvSpPr>
        <p:spPr>
          <a:xfrm>
            <a:off x="640080" y="5477256"/>
            <a:ext cx="544068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Rawan Moshabab Alshahrani</a:t>
            </a:r>
            <a:r>
              <a:rPr lang="en-US" sz="1100" dirty="0">
                <a:solidFill>
                  <a:srgbClr val="8FC3D6"/>
                </a:solidFill>
                <a:latin typeface="Courier New" pitchFamily="34" charset="0"/>
                <a:ea typeface="Courier New" pitchFamily="34" charset="-122"/>
                <a:cs typeface="Courier New" pitchFamily="34" charset="-120"/>
              </a:rPr>
              <a:t>   444803633</a:t>
            </a:r>
            <a:endParaRPr lang="en-US" sz="1200" dirty="0"/>
          </a:p>
        </p:txBody>
      </p:sp>
      <p:sp>
        <p:nvSpPr>
          <p:cNvPr id="16" name="Text 13"/>
          <p:cNvSpPr/>
          <p:nvPr/>
        </p:nvSpPr>
        <p:spPr>
          <a:xfrm>
            <a:off x="6355080" y="5477256"/>
            <a:ext cx="544068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Anfal Nasser Al Mashout</a:t>
            </a:r>
            <a:r>
              <a:rPr lang="en-US" sz="1100" dirty="0">
                <a:solidFill>
                  <a:srgbClr val="8FC3D6"/>
                </a:solidFill>
                <a:latin typeface="Courier New" pitchFamily="34" charset="0"/>
                <a:ea typeface="Courier New" pitchFamily="34" charset="-122"/>
                <a:cs typeface="Courier New" pitchFamily="34" charset="-120"/>
              </a:rPr>
              <a:t>   444804227</a:t>
            </a:r>
            <a:endParaRPr lang="en-US" sz="1200" dirty="0"/>
          </a:p>
        </p:txBody>
      </p:sp>
      <p:sp>
        <p:nvSpPr>
          <p:cNvPr id="17" name="Text 14"/>
          <p:cNvSpPr/>
          <p:nvPr/>
        </p:nvSpPr>
        <p:spPr>
          <a:xfrm>
            <a:off x="640080" y="5952744"/>
            <a:ext cx="544068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Shooq Mohammed</a:t>
            </a:r>
            <a:r>
              <a:rPr lang="en-US" sz="1100" dirty="0">
                <a:solidFill>
                  <a:srgbClr val="8FC3D6"/>
                </a:solidFill>
                <a:latin typeface="Courier New" pitchFamily="34" charset="0"/>
                <a:ea typeface="Courier New" pitchFamily="34" charset="-122"/>
                <a:cs typeface="Courier New" pitchFamily="34" charset="-120"/>
              </a:rPr>
              <a:t>   443801328</a:t>
            </a:r>
            <a:endParaRPr lang="en-US" sz="1200" dirty="0"/>
          </a:p>
        </p:txBody>
      </p:sp>
      <p:sp>
        <p:nvSpPr>
          <p:cNvPr id="18" name="Text 15"/>
          <p:cNvSpPr/>
          <p:nvPr/>
        </p:nvSpPr>
        <p:spPr>
          <a:xfrm>
            <a:off x="6355080" y="5952744"/>
            <a:ext cx="5440680" cy="32004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Jana Mohsen Alghamdi</a:t>
            </a:r>
            <a:r>
              <a:rPr lang="en-US" sz="1100" dirty="0">
                <a:solidFill>
                  <a:srgbClr val="8FC3D6"/>
                </a:solidFill>
                <a:latin typeface="Courier New" pitchFamily="34" charset="0"/>
                <a:ea typeface="Courier New" pitchFamily="34" charset="-122"/>
                <a:cs typeface="Courier New" pitchFamily="34" charset="-120"/>
              </a:rPr>
              <a:t>   443803423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ABSTRACT</a:t>
            </a:r>
            <a:endParaRPr lang="en-US" sz="1200" dirty="0"/>
          </a:p>
        </p:txBody>
      </p:sp>
      <p:sp>
        <p:nvSpPr>
          <p:cNvPr id="3" name="Text 1"/>
          <p:cNvSpPr/>
          <p:nvPr/>
        </p:nvSpPr>
        <p:spPr>
          <a:xfrm>
            <a:off x="548640" y="731520"/>
            <a:ext cx="9601200" cy="73152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Project Abstract</a:t>
            </a:r>
            <a:endParaRPr lang="en-US" sz="3000" dirty="0"/>
          </a:p>
        </p:txBody>
      </p:sp>
      <p:sp>
        <p:nvSpPr>
          <p:cNvPr id="4" name="Shape 2"/>
          <p:cNvSpPr/>
          <p:nvPr/>
        </p:nvSpPr>
        <p:spPr>
          <a:xfrm>
            <a:off x="548640" y="1691640"/>
            <a:ext cx="11064240" cy="4206240"/>
          </a:xfrm>
          <a:prstGeom prst="roundRect">
            <a:avLst>
              <a:gd name="adj" fmla="val 1739"/>
            </a:avLst>
          </a:prstGeom>
          <a:solidFill>
            <a:srgbClr val="FFFFFF"/>
          </a:solidFill>
          <a:ln w="12700">
            <a:solidFill>
              <a:srgbClr val="E1E8ED"/>
            </a:solidFill>
            <a:prstDash val="solid"/>
          </a:ln>
          <a:effectLst>
            <a:outerShdw blurRad="101600" dist="38100" dir="5400000" algn="bl" rotWithShape="0">
              <a:srgbClr val="365472">
                <a:alpha val="15000"/>
              </a:srgbClr>
            </a:outerShdw>
          </a:effectLst>
        </p:spPr>
      </p:sp>
      <p:sp>
        <p:nvSpPr>
          <p:cNvPr id="5" name="Text 3"/>
          <p:cNvSpPr/>
          <p:nvPr/>
        </p:nvSpPr>
        <p:spPr>
          <a:xfrm>
            <a:off x="960120" y="2011680"/>
            <a:ext cx="10241280" cy="3566160"/>
          </a:xfrm>
          <a:prstGeom prst="rect">
            <a:avLst/>
          </a:prstGeom>
          <a:noFill/>
          <a:ln/>
        </p:spPr>
        <p:txBody>
          <a:bodyPr wrap="square" rtlCol="0" anchor="t"/>
          <a:lstStyle/>
          <a:p>
            <a:pPr marL="0" indent="0" algn="l">
              <a:lnSpc>
                <a:spcPct val="125000"/>
              </a:lnSpc>
              <a:buNone/>
            </a:pPr>
            <a:r>
              <a:rPr lang="en-US" sz="1500" dirty="0">
                <a:solidFill>
                  <a:srgbClr val="21295C"/>
                </a:solidFill>
                <a:latin typeface="Calibri" pitchFamily="34" charset="0"/>
                <a:ea typeface="Calibri" pitchFamily="34" charset="-122"/>
                <a:cs typeface="Calibri" pitchFamily="34" charset="-120"/>
              </a:rPr>
              <a:t>Malicious URLs are a primary vector for phishing, malware distribution, and website defacement, and traditional detectors that rely on handcrafted lexical rules or blacklists struggle to keep pace with rapidly evolving attacks. This project presents a transformer-based system that classifies URLs into four categories — benign, phishing, malware, and defacement — by fine-tuning DistilBERT directly on raw URL text, removing the need for manual feature engineering. A public Kaggle dataset of roughly 651,000 labeled URLs was split into stratified training, validation, and test sets. The model was fine-tuned end-to-end using the HuggingFace Trainer API and evaluated on a held-out test set of about 97,000 URLs, achieving 98.89% accuracy and a macro F1-score of 0.9835. The results show that a lightweight transformer can reliably detect malicious URLs from text alone, offering a practical alternative to rule-based detection pipelines.</a:t>
            </a:r>
            <a:endParaRPr lang="en-US" sz="1500" dirty="0"/>
          </a:p>
        </p:txBody>
      </p:sp>
      <p:sp>
        <p:nvSpPr>
          <p:cNvPr id="6" name="Text 4"/>
          <p:cNvSpPr/>
          <p:nvPr/>
        </p:nvSpPr>
        <p:spPr>
          <a:xfrm>
            <a:off x="11475720" y="6446520"/>
            <a:ext cx="54864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731520"/>
            <a:ext cx="9601200" cy="73152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How the Project Was Built</a:t>
            </a:r>
            <a:endParaRPr lang="en-US" sz="3000" dirty="0"/>
          </a:p>
        </p:txBody>
      </p:sp>
      <p:sp>
        <p:nvSpPr>
          <p:cNvPr id="4" name="Text 2"/>
          <p:cNvSpPr/>
          <p:nvPr/>
        </p:nvSpPr>
        <p:spPr>
          <a:xfrm>
            <a:off x="548640" y="1691640"/>
            <a:ext cx="5486400" cy="365760"/>
          </a:xfrm>
          <a:prstGeom prst="rect">
            <a:avLst/>
          </a:prstGeom>
          <a:noFill/>
          <a:ln/>
        </p:spPr>
        <p:txBody>
          <a:bodyPr wrap="square"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Algorithm Workflow</a:t>
            </a:r>
            <a:endParaRPr lang="en-US" sz="1450" dirty="0"/>
          </a:p>
        </p:txBody>
      </p:sp>
      <p:sp>
        <p:nvSpPr>
          <p:cNvPr id="5" name="Shape 3"/>
          <p:cNvSpPr/>
          <p:nvPr/>
        </p:nvSpPr>
        <p:spPr>
          <a:xfrm>
            <a:off x="548640" y="2103120"/>
            <a:ext cx="347472" cy="347472"/>
          </a:xfrm>
          <a:prstGeom prst="ellipse">
            <a:avLst/>
          </a:prstGeom>
          <a:solidFill>
            <a:srgbClr val="065A82"/>
          </a:solidFill>
          <a:ln/>
        </p:spPr>
      </p:sp>
      <p:sp>
        <p:nvSpPr>
          <p:cNvPr id="6" name="Text 4"/>
          <p:cNvSpPr/>
          <p:nvPr/>
        </p:nvSpPr>
        <p:spPr>
          <a:xfrm>
            <a:off x="548640" y="2103120"/>
            <a:ext cx="347472"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005840" y="2084832"/>
            <a:ext cx="5212080" cy="45720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Collect and clean the labeled URL dataset</a:t>
            </a:r>
            <a:endParaRPr lang="en-US" sz="1200" dirty="0"/>
          </a:p>
        </p:txBody>
      </p:sp>
      <p:sp>
        <p:nvSpPr>
          <p:cNvPr id="8" name="Shape 6"/>
          <p:cNvSpPr/>
          <p:nvPr/>
        </p:nvSpPr>
        <p:spPr>
          <a:xfrm>
            <a:off x="548640" y="2670048"/>
            <a:ext cx="347472" cy="347472"/>
          </a:xfrm>
          <a:prstGeom prst="ellipse">
            <a:avLst/>
          </a:prstGeom>
          <a:solidFill>
            <a:srgbClr val="065A82"/>
          </a:solidFill>
          <a:ln/>
        </p:spPr>
      </p:sp>
      <p:sp>
        <p:nvSpPr>
          <p:cNvPr id="9" name="Text 7"/>
          <p:cNvSpPr/>
          <p:nvPr/>
        </p:nvSpPr>
        <p:spPr>
          <a:xfrm>
            <a:off x="548640" y="2670048"/>
            <a:ext cx="347472"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1005840" y="2651760"/>
            <a:ext cx="5212080" cy="45720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Tokenize URLs with the WordPiece tokenizer</a:t>
            </a:r>
            <a:endParaRPr lang="en-US" sz="1200" dirty="0"/>
          </a:p>
        </p:txBody>
      </p:sp>
      <p:sp>
        <p:nvSpPr>
          <p:cNvPr id="11" name="Shape 9"/>
          <p:cNvSpPr/>
          <p:nvPr/>
        </p:nvSpPr>
        <p:spPr>
          <a:xfrm>
            <a:off x="548640" y="3236976"/>
            <a:ext cx="347472" cy="347472"/>
          </a:xfrm>
          <a:prstGeom prst="ellipse">
            <a:avLst/>
          </a:prstGeom>
          <a:solidFill>
            <a:srgbClr val="065A82"/>
          </a:solidFill>
          <a:ln/>
        </p:spPr>
      </p:sp>
      <p:sp>
        <p:nvSpPr>
          <p:cNvPr id="12" name="Text 10"/>
          <p:cNvSpPr/>
          <p:nvPr/>
        </p:nvSpPr>
        <p:spPr>
          <a:xfrm>
            <a:off x="548640" y="3236976"/>
            <a:ext cx="347472"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1005840" y="3218688"/>
            <a:ext cx="5212080" cy="45720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Stratified train / validation / test split</a:t>
            </a:r>
            <a:endParaRPr lang="en-US" sz="1200" dirty="0"/>
          </a:p>
        </p:txBody>
      </p:sp>
      <p:sp>
        <p:nvSpPr>
          <p:cNvPr id="14" name="Shape 12"/>
          <p:cNvSpPr/>
          <p:nvPr/>
        </p:nvSpPr>
        <p:spPr>
          <a:xfrm>
            <a:off x="548640" y="3803904"/>
            <a:ext cx="347472" cy="347472"/>
          </a:xfrm>
          <a:prstGeom prst="ellipse">
            <a:avLst/>
          </a:prstGeom>
          <a:solidFill>
            <a:srgbClr val="065A82"/>
          </a:solidFill>
          <a:ln/>
        </p:spPr>
      </p:sp>
      <p:sp>
        <p:nvSpPr>
          <p:cNvPr id="15" name="Text 13"/>
          <p:cNvSpPr/>
          <p:nvPr/>
        </p:nvSpPr>
        <p:spPr>
          <a:xfrm>
            <a:off x="548640" y="3803904"/>
            <a:ext cx="347472"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 14"/>
          <p:cNvSpPr/>
          <p:nvPr/>
        </p:nvSpPr>
        <p:spPr>
          <a:xfrm>
            <a:off x="1005840" y="3785616"/>
            <a:ext cx="5212080" cy="45720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Fine-tune DistilBERT end-to-end</a:t>
            </a:r>
            <a:endParaRPr lang="en-US" sz="1200" dirty="0"/>
          </a:p>
        </p:txBody>
      </p:sp>
      <p:sp>
        <p:nvSpPr>
          <p:cNvPr id="17" name="Shape 15"/>
          <p:cNvSpPr/>
          <p:nvPr/>
        </p:nvSpPr>
        <p:spPr>
          <a:xfrm>
            <a:off x="548640" y="4370832"/>
            <a:ext cx="347472" cy="347472"/>
          </a:xfrm>
          <a:prstGeom prst="ellipse">
            <a:avLst/>
          </a:prstGeom>
          <a:solidFill>
            <a:srgbClr val="065A82"/>
          </a:solidFill>
          <a:ln/>
        </p:spPr>
      </p:sp>
      <p:sp>
        <p:nvSpPr>
          <p:cNvPr id="18" name="Text 16"/>
          <p:cNvSpPr/>
          <p:nvPr/>
        </p:nvSpPr>
        <p:spPr>
          <a:xfrm>
            <a:off x="548640" y="4370832"/>
            <a:ext cx="347472"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Text 17"/>
          <p:cNvSpPr/>
          <p:nvPr/>
        </p:nvSpPr>
        <p:spPr>
          <a:xfrm>
            <a:off x="1005840" y="4352544"/>
            <a:ext cx="5212080" cy="45720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Validate each epoch, keep the best model</a:t>
            </a:r>
            <a:endParaRPr lang="en-US" sz="1200" dirty="0"/>
          </a:p>
        </p:txBody>
      </p:sp>
      <p:sp>
        <p:nvSpPr>
          <p:cNvPr id="20" name="Shape 18"/>
          <p:cNvSpPr/>
          <p:nvPr/>
        </p:nvSpPr>
        <p:spPr>
          <a:xfrm>
            <a:off x="548640" y="4937760"/>
            <a:ext cx="347472" cy="347472"/>
          </a:xfrm>
          <a:prstGeom prst="ellipse">
            <a:avLst/>
          </a:prstGeom>
          <a:solidFill>
            <a:srgbClr val="00C2A8"/>
          </a:solidFill>
          <a:ln/>
        </p:spPr>
      </p:sp>
      <p:sp>
        <p:nvSpPr>
          <p:cNvPr id="21" name="Text 19"/>
          <p:cNvSpPr/>
          <p:nvPr/>
        </p:nvSpPr>
        <p:spPr>
          <a:xfrm>
            <a:off x="548640" y="4937760"/>
            <a:ext cx="347472"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2" name="Text 20"/>
          <p:cNvSpPr/>
          <p:nvPr/>
        </p:nvSpPr>
        <p:spPr>
          <a:xfrm>
            <a:off x="1005840" y="4919472"/>
            <a:ext cx="5212080" cy="45720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Evaluate once on the held-out test set</a:t>
            </a:r>
            <a:endParaRPr lang="en-US" sz="1200" dirty="0"/>
          </a:p>
        </p:txBody>
      </p:sp>
      <p:sp>
        <p:nvSpPr>
          <p:cNvPr id="23" name="Shape 21"/>
          <p:cNvSpPr/>
          <p:nvPr/>
        </p:nvSpPr>
        <p:spPr>
          <a:xfrm>
            <a:off x="6400800" y="1691640"/>
            <a:ext cx="5212080" cy="4160520"/>
          </a:xfrm>
          <a:prstGeom prst="roundRect">
            <a:avLst>
              <a:gd name="adj" fmla="val 1758"/>
            </a:avLst>
          </a:prstGeom>
          <a:solidFill>
            <a:srgbClr val="21295C"/>
          </a:solidFill>
          <a:ln/>
        </p:spPr>
      </p:sp>
      <p:sp>
        <p:nvSpPr>
          <p:cNvPr id="24" name="Text 22"/>
          <p:cNvSpPr/>
          <p:nvPr/>
        </p:nvSpPr>
        <p:spPr>
          <a:xfrm>
            <a:off x="6675120" y="1874520"/>
            <a:ext cx="466344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Training ↔ Testing Relationship</a:t>
            </a:r>
            <a:endParaRPr lang="en-US" sz="1450" dirty="0"/>
          </a:p>
        </p:txBody>
      </p:sp>
      <p:sp>
        <p:nvSpPr>
          <p:cNvPr id="25" name="Text 23"/>
          <p:cNvSpPr/>
          <p:nvPr/>
        </p:nvSpPr>
        <p:spPr>
          <a:xfrm>
            <a:off x="6675120" y="2331720"/>
            <a:ext cx="4663440" cy="274320"/>
          </a:xfrm>
          <a:prstGeom prst="rect">
            <a:avLst/>
          </a:prstGeom>
          <a:noFill/>
          <a:ln/>
        </p:spPr>
        <p:txBody>
          <a:bodyPr wrap="square" rtlCol="0" anchor="ctr"/>
          <a:lstStyle/>
          <a:p>
            <a:pPr marL="0" indent="0">
              <a:buNone/>
            </a:pPr>
            <a:r>
              <a:rPr lang="en-US" sz="1300" b="1" dirty="0">
                <a:solidFill>
                  <a:srgbClr val="00C2A8"/>
                </a:solidFill>
                <a:latin typeface="Calibri" pitchFamily="34" charset="0"/>
                <a:ea typeface="Calibri" pitchFamily="34" charset="-122"/>
                <a:cs typeface="Calibri" pitchFamily="34" charset="-120"/>
              </a:rPr>
              <a:t>Training set (70%)</a:t>
            </a:r>
            <a:endParaRPr lang="en-US" sz="1300" dirty="0"/>
          </a:p>
        </p:txBody>
      </p:sp>
      <p:sp>
        <p:nvSpPr>
          <p:cNvPr id="26" name="Text 24"/>
          <p:cNvSpPr/>
          <p:nvPr/>
        </p:nvSpPr>
        <p:spPr>
          <a:xfrm>
            <a:off x="6675120" y="2606040"/>
            <a:ext cx="4663440" cy="411480"/>
          </a:xfrm>
          <a:prstGeom prst="rect">
            <a:avLst/>
          </a:prstGeom>
          <a:noFill/>
          <a:ln/>
        </p:spPr>
        <p:txBody>
          <a:bodyPr wrap="square" rtlCol="0" anchor="t"/>
          <a:lstStyle/>
          <a:p>
            <a:pPr marL="0" indent="0">
              <a:buNone/>
            </a:pPr>
            <a:r>
              <a:rPr lang="en-US" sz="1150" dirty="0">
                <a:solidFill>
                  <a:srgbClr val="D6E4EC"/>
                </a:solidFill>
                <a:latin typeface="Calibri" pitchFamily="34" charset="0"/>
                <a:ea typeface="Calibri" pitchFamily="34" charset="-122"/>
                <a:cs typeface="Calibri" pitchFamily="34" charset="-120"/>
              </a:rPr>
              <a:t>Used to update DistilBERT's weights via backpropagation.</a:t>
            </a:r>
            <a:endParaRPr lang="en-US" sz="1150" dirty="0"/>
          </a:p>
        </p:txBody>
      </p:sp>
      <p:sp>
        <p:nvSpPr>
          <p:cNvPr id="27" name="Text 25"/>
          <p:cNvSpPr/>
          <p:nvPr/>
        </p:nvSpPr>
        <p:spPr>
          <a:xfrm>
            <a:off x="6675120" y="3081528"/>
            <a:ext cx="4663440" cy="274320"/>
          </a:xfrm>
          <a:prstGeom prst="rect">
            <a:avLst/>
          </a:prstGeom>
          <a:noFill/>
          <a:ln/>
        </p:spPr>
        <p:txBody>
          <a:bodyPr wrap="square" rtlCol="0" anchor="ctr"/>
          <a:lstStyle/>
          <a:p>
            <a:pPr marL="0" indent="0">
              <a:buNone/>
            </a:pPr>
            <a:r>
              <a:rPr lang="en-US" sz="1300" b="1" dirty="0">
                <a:solidFill>
                  <a:srgbClr val="00C2A8"/>
                </a:solidFill>
                <a:latin typeface="Calibri" pitchFamily="34" charset="0"/>
                <a:ea typeface="Calibri" pitchFamily="34" charset="-122"/>
                <a:cs typeface="Calibri" pitchFamily="34" charset="-120"/>
              </a:rPr>
              <a:t>Validation set (15%)</a:t>
            </a:r>
            <a:endParaRPr lang="en-US" sz="1300" dirty="0"/>
          </a:p>
        </p:txBody>
      </p:sp>
      <p:sp>
        <p:nvSpPr>
          <p:cNvPr id="28" name="Text 26"/>
          <p:cNvSpPr/>
          <p:nvPr/>
        </p:nvSpPr>
        <p:spPr>
          <a:xfrm>
            <a:off x="6675120" y="3355848"/>
            <a:ext cx="4663440" cy="411480"/>
          </a:xfrm>
          <a:prstGeom prst="rect">
            <a:avLst/>
          </a:prstGeom>
          <a:noFill/>
          <a:ln/>
        </p:spPr>
        <p:txBody>
          <a:bodyPr wrap="square" rtlCol="0" anchor="t"/>
          <a:lstStyle/>
          <a:p>
            <a:pPr marL="0" indent="0">
              <a:buNone/>
            </a:pPr>
            <a:r>
              <a:rPr lang="en-US" sz="1150" dirty="0">
                <a:solidFill>
                  <a:srgbClr val="D6E4EC"/>
                </a:solidFill>
                <a:latin typeface="Calibri" pitchFamily="34" charset="0"/>
                <a:ea typeface="Calibri" pitchFamily="34" charset="-122"/>
                <a:cs typeface="Calibri" pitchFamily="34" charset="-120"/>
              </a:rPr>
              <a:t>Used after every epoch to pick the best model — never used to update weights.</a:t>
            </a:r>
            <a:endParaRPr lang="en-US" sz="1150" dirty="0"/>
          </a:p>
        </p:txBody>
      </p:sp>
      <p:sp>
        <p:nvSpPr>
          <p:cNvPr id="29" name="Text 27"/>
          <p:cNvSpPr/>
          <p:nvPr/>
        </p:nvSpPr>
        <p:spPr>
          <a:xfrm>
            <a:off x="6675120" y="3831336"/>
            <a:ext cx="4663440" cy="274320"/>
          </a:xfrm>
          <a:prstGeom prst="rect">
            <a:avLst/>
          </a:prstGeom>
          <a:noFill/>
          <a:ln/>
        </p:spPr>
        <p:txBody>
          <a:bodyPr wrap="square" rtlCol="0" anchor="ctr"/>
          <a:lstStyle/>
          <a:p>
            <a:pPr marL="0" indent="0">
              <a:buNone/>
            </a:pPr>
            <a:r>
              <a:rPr lang="en-US" sz="1300" b="1" dirty="0">
                <a:solidFill>
                  <a:srgbClr val="00C2A8"/>
                </a:solidFill>
                <a:latin typeface="Calibri" pitchFamily="34" charset="0"/>
                <a:ea typeface="Calibri" pitchFamily="34" charset="-122"/>
                <a:cs typeface="Calibri" pitchFamily="34" charset="-120"/>
              </a:rPr>
              <a:t>Test set (15%)</a:t>
            </a:r>
            <a:endParaRPr lang="en-US" sz="1300" dirty="0"/>
          </a:p>
        </p:txBody>
      </p:sp>
      <p:sp>
        <p:nvSpPr>
          <p:cNvPr id="30" name="Text 28"/>
          <p:cNvSpPr/>
          <p:nvPr/>
        </p:nvSpPr>
        <p:spPr>
          <a:xfrm>
            <a:off x="6675120" y="4105656"/>
            <a:ext cx="4663440" cy="411480"/>
          </a:xfrm>
          <a:prstGeom prst="rect">
            <a:avLst/>
          </a:prstGeom>
          <a:noFill/>
          <a:ln/>
        </p:spPr>
        <p:txBody>
          <a:bodyPr wrap="square" rtlCol="0" anchor="t"/>
          <a:lstStyle/>
          <a:p>
            <a:pPr marL="0" indent="0">
              <a:buNone/>
            </a:pPr>
            <a:r>
              <a:rPr lang="en-US" sz="1150" dirty="0">
                <a:solidFill>
                  <a:srgbClr val="D6E4EC"/>
                </a:solidFill>
                <a:latin typeface="Calibri" pitchFamily="34" charset="0"/>
                <a:ea typeface="Calibri" pitchFamily="34" charset="-122"/>
                <a:cs typeface="Calibri" pitchFamily="34" charset="-120"/>
              </a:rPr>
              <a:t>Held out completely until the very end, for one unbiased final measurement.</a:t>
            </a:r>
            <a:endParaRPr lang="en-US" sz="1150" dirty="0"/>
          </a:p>
        </p:txBody>
      </p:sp>
      <p:sp>
        <p:nvSpPr>
          <p:cNvPr id="31" name="Text 29"/>
          <p:cNvSpPr/>
          <p:nvPr/>
        </p:nvSpPr>
        <p:spPr>
          <a:xfrm>
            <a:off x="6675120" y="4626864"/>
            <a:ext cx="4663440" cy="777240"/>
          </a:xfrm>
          <a:prstGeom prst="rect">
            <a:avLst/>
          </a:prstGeom>
          <a:noFill/>
          <a:ln/>
        </p:spPr>
        <p:txBody>
          <a:bodyPr wrap="square" rtlCol="0" anchor="t"/>
          <a:lstStyle/>
          <a:p>
            <a:pPr marL="0" indent="0">
              <a:buNone/>
            </a:pPr>
            <a:r>
              <a:rPr lang="en-US" sz="1050" i="1" dirty="0">
                <a:solidFill>
                  <a:srgbClr val="9FC7D6"/>
                </a:solidFill>
                <a:latin typeface="Calibri" pitchFamily="34" charset="0"/>
                <a:ea typeface="Calibri" pitchFamily="34" charset="-122"/>
                <a:cs typeface="Calibri" pitchFamily="34" charset="-120"/>
              </a:rPr>
              <a:t>Same fixed random seed for every split — so the test score reflects real generalization, not a lucky split.</a:t>
            </a:r>
            <a:endParaRPr lang="en-US" sz="1050" dirty="0"/>
          </a:p>
        </p:txBody>
      </p:sp>
      <p:sp>
        <p:nvSpPr>
          <p:cNvPr id="32" name="Text 30"/>
          <p:cNvSpPr/>
          <p:nvPr/>
        </p:nvSpPr>
        <p:spPr>
          <a:xfrm>
            <a:off x="11475720" y="6446520"/>
            <a:ext cx="54864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48640" y="731520"/>
            <a:ext cx="9601200" cy="73152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Malicious URLs Are a Growing Attack Surface</a:t>
            </a:r>
            <a:endParaRPr lang="en-US" sz="3000" dirty="0"/>
          </a:p>
        </p:txBody>
      </p:sp>
      <p:sp>
        <p:nvSpPr>
          <p:cNvPr id="4" name="Shape 2"/>
          <p:cNvSpPr/>
          <p:nvPr/>
        </p:nvSpPr>
        <p:spPr>
          <a:xfrm>
            <a:off x="548640" y="1783080"/>
            <a:ext cx="3520440" cy="2103120"/>
          </a:xfrm>
          <a:prstGeom prst="roundRect">
            <a:avLst>
              <a:gd name="adj" fmla="val 3478"/>
            </a:avLst>
          </a:prstGeom>
          <a:solidFill>
            <a:srgbClr val="FFFFFF"/>
          </a:solidFill>
          <a:ln w="12700">
            <a:solidFill>
              <a:srgbClr val="E1E8ED"/>
            </a:solidFill>
            <a:prstDash val="solid"/>
          </a:ln>
          <a:effectLst>
            <a:outerShdw blurRad="101600" dist="38100" dir="5400000" algn="bl" rotWithShape="0">
              <a:srgbClr val="365472">
                <a:alpha val="18000"/>
              </a:srgbClr>
            </a:outerShdw>
          </a:effectLst>
        </p:spPr>
      </p:sp>
      <p:sp>
        <p:nvSpPr>
          <p:cNvPr id="5" name="Shape 3"/>
          <p:cNvSpPr/>
          <p:nvPr/>
        </p:nvSpPr>
        <p:spPr>
          <a:xfrm>
            <a:off x="822960" y="2057400"/>
            <a:ext cx="502920" cy="502920"/>
          </a:xfrm>
          <a:prstGeom prst="ellipse">
            <a:avLst/>
          </a:prstGeom>
          <a:solidFill>
            <a:srgbClr val="065A82"/>
          </a:solidFill>
          <a:ln/>
        </p:spPr>
      </p:sp>
      <p:sp>
        <p:nvSpPr>
          <p:cNvPr id="6" name="Text 4"/>
          <p:cNvSpPr/>
          <p:nvPr/>
        </p:nvSpPr>
        <p:spPr>
          <a:xfrm>
            <a:off x="822960" y="205740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822960" y="2697480"/>
            <a:ext cx="2971800" cy="36576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Phishing</a:t>
            </a:r>
            <a:endParaRPr lang="en-US" sz="1600" dirty="0"/>
          </a:p>
        </p:txBody>
      </p:sp>
      <p:sp>
        <p:nvSpPr>
          <p:cNvPr id="8" name="Text 6"/>
          <p:cNvSpPr/>
          <p:nvPr/>
        </p:nvSpPr>
        <p:spPr>
          <a:xfrm>
            <a:off x="822960" y="3108960"/>
            <a:ext cx="2971800" cy="731520"/>
          </a:xfrm>
          <a:prstGeom prst="rect">
            <a:avLst/>
          </a:prstGeom>
          <a:noFill/>
          <a:ln/>
        </p:spPr>
        <p:txBody>
          <a:bodyPr wrap="square" rtlCol="0" anchor="t"/>
          <a:lstStyle/>
          <a:p>
            <a:pPr marL="0" indent="0">
              <a:buNone/>
            </a:pPr>
            <a:r>
              <a:rPr lang="en-US" sz="1200" dirty="0">
                <a:solidFill>
                  <a:srgbClr val="5B6B7A"/>
                </a:solidFill>
                <a:latin typeface="Calibri" pitchFamily="34" charset="0"/>
                <a:ea typeface="Calibri" pitchFamily="34" charset="-122"/>
                <a:cs typeface="Calibri" pitchFamily="34" charset="-120"/>
              </a:rPr>
              <a:t>Fake login pages impersonate trusted brands to steal credentials.</a:t>
            </a:r>
            <a:endParaRPr lang="en-US" sz="1200" dirty="0"/>
          </a:p>
        </p:txBody>
      </p:sp>
      <p:sp>
        <p:nvSpPr>
          <p:cNvPr id="9" name="Shape 7"/>
          <p:cNvSpPr/>
          <p:nvPr/>
        </p:nvSpPr>
        <p:spPr>
          <a:xfrm>
            <a:off x="4343400" y="1783080"/>
            <a:ext cx="3520440" cy="2103120"/>
          </a:xfrm>
          <a:prstGeom prst="roundRect">
            <a:avLst>
              <a:gd name="adj" fmla="val 3478"/>
            </a:avLst>
          </a:prstGeom>
          <a:solidFill>
            <a:srgbClr val="FFFFFF"/>
          </a:solidFill>
          <a:ln w="12700">
            <a:solidFill>
              <a:srgbClr val="E1E8ED"/>
            </a:solidFill>
            <a:prstDash val="solid"/>
          </a:ln>
          <a:effectLst>
            <a:outerShdw blurRad="101600" dist="38100" dir="5400000" algn="bl" rotWithShape="0">
              <a:srgbClr val="365472">
                <a:alpha val="18000"/>
              </a:srgbClr>
            </a:outerShdw>
          </a:effectLst>
        </p:spPr>
      </p:sp>
      <p:sp>
        <p:nvSpPr>
          <p:cNvPr id="10" name="Shape 8"/>
          <p:cNvSpPr/>
          <p:nvPr/>
        </p:nvSpPr>
        <p:spPr>
          <a:xfrm>
            <a:off x="4617720" y="2057400"/>
            <a:ext cx="502920" cy="502920"/>
          </a:xfrm>
          <a:prstGeom prst="ellipse">
            <a:avLst/>
          </a:prstGeom>
          <a:solidFill>
            <a:srgbClr val="065A82"/>
          </a:solidFill>
          <a:ln/>
        </p:spPr>
      </p:sp>
      <p:sp>
        <p:nvSpPr>
          <p:cNvPr id="11" name="Text 9"/>
          <p:cNvSpPr/>
          <p:nvPr/>
        </p:nvSpPr>
        <p:spPr>
          <a:xfrm>
            <a:off x="4617720" y="205740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4617720" y="2697480"/>
            <a:ext cx="2971800" cy="36576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Malware</a:t>
            </a:r>
            <a:endParaRPr lang="en-US" sz="1600" dirty="0"/>
          </a:p>
        </p:txBody>
      </p:sp>
      <p:sp>
        <p:nvSpPr>
          <p:cNvPr id="13" name="Text 11"/>
          <p:cNvSpPr/>
          <p:nvPr/>
        </p:nvSpPr>
        <p:spPr>
          <a:xfrm>
            <a:off x="4617720" y="3108960"/>
            <a:ext cx="2971800" cy="731520"/>
          </a:xfrm>
          <a:prstGeom prst="rect">
            <a:avLst/>
          </a:prstGeom>
          <a:noFill/>
          <a:ln/>
        </p:spPr>
        <p:txBody>
          <a:bodyPr wrap="square" rtlCol="0" anchor="t"/>
          <a:lstStyle/>
          <a:p>
            <a:pPr marL="0" indent="0">
              <a:buNone/>
            </a:pPr>
            <a:r>
              <a:rPr lang="en-US" sz="1200" dirty="0">
                <a:solidFill>
                  <a:srgbClr val="5B6B7A"/>
                </a:solidFill>
                <a:latin typeface="Calibri" pitchFamily="34" charset="0"/>
                <a:ea typeface="Calibri" pitchFamily="34" charset="-122"/>
                <a:cs typeface="Calibri" pitchFamily="34" charset="-120"/>
              </a:rPr>
              <a:t>Links trigger drive-by downloads of malicious payloads.</a:t>
            </a:r>
            <a:endParaRPr lang="en-US" sz="1200" dirty="0"/>
          </a:p>
        </p:txBody>
      </p:sp>
      <p:sp>
        <p:nvSpPr>
          <p:cNvPr id="14" name="Shape 12"/>
          <p:cNvSpPr/>
          <p:nvPr/>
        </p:nvSpPr>
        <p:spPr>
          <a:xfrm>
            <a:off x="8138160" y="1783080"/>
            <a:ext cx="3520440" cy="2103120"/>
          </a:xfrm>
          <a:prstGeom prst="roundRect">
            <a:avLst>
              <a:gd name="adj" fmla="val 3478"/>
            </a:avLst>
          </a:prstGeom>
          <a:solidFill>
            <a:srgbClr val="FFFFFF"/>
          </a:solidFill>
          <a:ln w="12700">
            <a:solidFill>
              <a:srgbClr val="E1E8ED"/>
            </a:solidFill>
            <a:prstDash val="solid"/>
          </a:ln>
          <a:effectLst>
            <a:outerShdw blurRad="101600" dist="38100" dir="5400000" algn="bl" rotWithShape="0">
              <a:srgbClr val="365472">
                <a:alpha val="18000"/>
              </a:srgbClr>
            </a:outerShdw>
          </a:effectLst>
        </p:spPr>
      </p:sp>
      <p:sp>
        <p:nvSpPr>
          <p:cNvPr id="15" name="Shape 13"/>
          <p:cNvSpPr/>
          <p:nvPr/>
        </p:nvSpPr>
        <p:spPr>
          <a:xfrm>
            <a:off x="8412480" y="2057400"/>
            <a:ext cx="502920" cy="502920"/>
          </a:xfrm>
          <a:prstGeom prst="ellipse">
            <a:avLst/>
          </a:prstGeom>
          <a:solidFill>
            <a:srgbClr val="065A82"/>
          </a:solidFill>
          <a:ln/>
        </p:spPr>
      </p:sp>
      <p:sp>
        <p:nvSpPr>
          <p:cNvPr id="16" name="Text 14"/>
          <p:cNvSpPr/>
          <p:nvPr/>
        </p:nvSpPr>
        <p:spPr>
          <a:xfrm>
            <a:off x="8412480" y="2057400"/>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8412480" y="2697480"/>
            <a:ext cx="2971800" cy="36576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Defacement</a:t>
            </a:r>
            <a:endParaRPr lang="en-US" sz="1600" dirty="0"/>
          </a:p>
        </p:txBody>
      </p:sp>
      <p:sp>
        <p:nvSpPr>
          <p:cNvPr id="18" name="Text 16"/>
          <p:cNvSpPr/>
          <p:nvPr/>
        </p:nvSpPr>
        <p:spPr>
          <a:xfrm>
            <a:off x="8412480" y="3108960"/>
            <a:ext cx="2971800" cy="731520"/>
          </a:xfrm>
          <a:prstGeom prst="rect">
            <a:avLst/>
          </a:prstGeom>
          <a:noFill/>
          <a:ln/>
        </p:spPr>
        <p:txBody>
          <a:bodyPr wrap="square" rtlCol="0" anchor="t"/>
          <a:lstStyle/>
          <a:p>
            <a:pPr marL="0" indent="0">
              <a:buNone/>
            </a:pPr>
            <a:r>
              <a:rPr lang="en-US" sz="1200" dirty="0">
                <a:solidFill>
                  <a:srgbClr val="5B6B7A"/>
                </a:solidFill>
                <a:latin typeface="Calibri" pitchFamily="34" charset="0"/>
                <a:ea typeface="Calibri" pitchFamily="34" charset="-122"/>
                <a:cs typeface="Calibri" pitchFamily="34" charset="-120"/>
              </a:rPr>
              <a:t>Compromised sites serve altered or hostile content.</a:t>
            </a:r>
            <a:endParaRPr lang="en-US" sz="1200" dirty="0"/>
          </a:p>
        </p:txBody>
      </p:sp>
      <p:sp>
        <p:nvSpPr>
          <p:cNvPr id="19" name="Shape 17"/>
          <p:cNvSpPr/>
          <p:nvPr/>
        </p:nvSpPr>
        <p:spPr>
          <a:xfrm>
            <a:off x="548640" y="4297680"/>
            <a:ext cx="11064240" cy="1691640"/>
          </a:xfrm>
          <a:prstGeom prst="roundRect">
            <a:avLst>
              <a:gd name="adj" fmla="val 4324"/>
            </a:avLst>
          </a:prstGeom>
          <a:solidFill>
            <a:srgbClr val="21295C"/>
          </a:solidFill>
          <a:ln/>
        </p:spPr>
      </p:sp>
      <p:sp>
        <p:nvSpPr>
          <p:cNvPr id="20" name="Text 18"/>
          <p:cNvSpPr/>
          <p:nvPr/>
        </p:nvSpPr>
        <p:spPr>
          <a:xfrm>
            <a:off x="1005840" y="4526280"/>
            <a:ext cx="10149840" cy="1280160"/>
          </a:xfrm>
          <a:prstGeom prst="rect">
            <a:avLst/>
          </a:prstGeom>
          <a:noFill/>
          <a:ln/>
        </p:spPr>
        <p:txBody>
          <a:bodyPr wrap="square"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The challenge: classic detectors rely on hand-crafted features (blacklists, WHOIS lookups, lexical rules) that are brittle and slow to update against fast-evolving attacks.</a:t>
            </a:r>
            <a:endParaRPr lang="en-US" sz="1500" dirty="0"/>
          </a:p>
        </p:txBody>
      </p:sp>
      <p:sp>
        <p:nvSpPr>
          <p:cNvPr id="21" name="Text 19"/>
          <p:cNvSpPr/>
          <p:nvPr/>
        </p:nvSpPr>
        <p:spPr>
          <a:xfrm>
            <a:off x="11475720" y="6446520"/>
            <a:ext cx="54864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DATASET</a:t>
            </a:r>
            <a:endParaRPr lang="en-US" sz="1200" dirty="0"/>
          </a:p>
        </p:txBody>
      </p:sp>
      <p:sp>
        <p:nvSpPr>
          <p:cNvPr id="3" name="Text 1"/>
          <p:cNvSpPr/>
          <p:nvPr/>
        </p:nvSpPr>
        <p:spPr>
          <a:xfrm>
            <a:off x="548640" y="731520"/>
            <a:ext cx="9601200" cy="73152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Malicious URLs Dataset (Kaggle)</a:t>
            </a:r>
            <a:endParaRPr lang="en-US" sz="3000" dirty="0"/>
          </a:p>
        </p:txBody>
      </p:sp>
      <p:sp>
        <p:nvSpPr>
          <p:cNvPr id="4" name="Text 2"/>
          <p:cNvSpPr/>
          <p:nvPr/>
        </p:nvSpPr>
        <p:spPr>
          <a:xfrm>
            <a:off x="548640" y="1691640"/>
            <a:ext cx="4114800" cy="777240"/>
          </a:xfrm>
          <a:prstGeom prst="rect">
            <a:avLst/>
          </a:prstGeom>
          <a:noFill/>
          <a:ln/>
        </p:spPr>
        <p:txBody>
          <a:bodyPr wrap="square" rtlCol="0" anchor="ctr"/>
          <a:lstStyle/>
          <a:p>
            <a:pPr marL="0" indent="0">
              <a:buNone/>
            </a:pPr>
            <a:r>
              <a:rPr lang="en-US" sz="4000" b="1" dirty="0">
                <a:solidFill>
                  <a:srgbClr val="065A82"/>
                </a:solidFill>
                <a:latin typeface="Cambria" pitchFamily="34" charset="0"/>
                <a:ea typeface="Cambria" pitchFamily="34" charset="-122"/>
                <a:cs typeface="Cambria" pitchFamily="34" charset="-120"/>
              </a:rPr>
              <a:t>~651,000</a:t>
            </a:r>
            <a:endParaRPr lang="en-US" sz="4000" dirty="0"/>
          </a:p>
        </p:txBody>
      </p:sp>
      <p:sp>
        <p:nvSpPr>
          <p:cNvPr id="5" name="Text 3"/>
          <p:cNvSpPr/>
          <p:nvPr/>
        </p:nvSpPr>
        <p:spPr>
          <a:xfrm>
            <a:off x="548640" y="2423160"/>
            <a:ext cx="4297680" cy="822960"/>
          </a:xfrm>
          <a:prstGeom prst="rect">
            <a:avLst/>
          </a:prstGeom>
          <a:noFill/>
          <a:ln/>
        </p:spPr>
        <p:txBody>
          <a:bodyPr wrap="square" rtlCol="0" anchor="ctr"/>
          <a:lstStyle/>
          <a:p>
            <a:pPr marL="0" indent="0">
              <a:buNone/>
            </a:pPr>
            <a:r>
              <a:rPr lang="en-US" sz="1300" dirty="0">
                <a:solidFill>
                  <a:srgbClr val="5B6B7A"/>
                </a:solidFill>
                <a:latin typeface="Calibri" pitchFamily="34" charset="0"/>
                <a:ea typeface="Calibri" pitchFamily="34" charset="-122"/>
                <a:cs typeface="Calibri" pitchFamily="34" charset="-120"/>
              </a:rPr>
              <a:t>labeled URLs across 4 classes, sourced from the public Kaggle</a:t>
            </a:r>
            <a:endParaRPr lang="en-US" sz="1300" dirty="0"/>
          </a:p>
          <a:p>
            <a:pPr marL="0" indent="0">
              <a:buNone/>
            </a:pPr>
            <a:r>
              <a:rPr lang="en-US" sz="1300" dirty="0">
                <a:solidFill>
                  <a:srgbClr val="5B6B7A"/>
                </a:solidFill>
                <a:latin typeface="Calibri" pitchFamily="34" charset="0"/>
                <a:ea typeface="Calibri" pitchFamily="34" charset="-122"/>
                <a:cs typeface="Calibri" pitchFamily="34" charset="-120"/>
              </a:rPr>
              <a:t>"Malicious URLs Dataset"</a:t>
            </a:r>
            <a:endParaRPr lang="en-US" sz="1300" dirty="0"/>
          </a:p>
        </p:txBody>
      </p:sp>
      <p:sp>
        <p:nvSpPr>
          <p:cNvPr id="6" name="Text 4"/>
          <p:cNvSpPr/>
          <p:nvPr/>
        </p:nvSpPr>
        <p:spPr>
          <a:xfrm>
            <a:off x="548640" y="3035808"/>
            <a:ext cx="4480560" cy="320040"/>
          </a:xfrm>
          <a:prstGeom prst="rect">
            <a:avLst/>
          </a:prstGeom>
          <a:noFill/>
          <a:ln/>
        </p:spPr>
        <p:txBody>
          <a:bodyPr wrap="square"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Source: Kaggle – Malicious URLs Dataset</a:t>
            </a:r>
            <a:endParaRPr lang="en-US" sz="1150" dirty="0"/>
          </a:p>
        </p:txBody>
      </p:sp>
      <p:sp>
        <p:nvSpPr>
          <p:cNvPr id="7" name="Text 5"/>
          <p:cNvSpPr/>
          <p:nvPr/>
        </p:nvSpPr>
        <p:spPr>
          <a:xfrm>
            <a:off x="548640" y="3429000"/>
            <a:ext cx="4572000" cy="365760"/>
          </a:xfrm>
          <a:prstGeom prst="rect">
            <a:avLst/>
          </a:prstGeom>
          <a:noFill/>
          <a:ln/>
        </p:spPr>
        <p:txBody>
          <a:bodyPr wrap="square" rtlCol="0" anchor="ctr"/>
          <a:lstStyle/>
          <a:p>
            <a:pPr marL="0" indent="0">
              <a:buNone/>
            </a:pPr>
            <a:r>
              <a:rPr lang="en-US" sz="1400" b="1" dirty="0">
                <a:solidFill>
                  <a:srgbClr val="21295C"/>
                </a:solidFill>
                <a:latin typeface="Calibri" pitchFamily="34" charset="0"/>
                <a:ea typeface="Calibri" pitchFamily="34" charset="-122"/>
                <a:cs typeface="Calibri" pitchFamily="34" charset="-120"/>
              </a:rPr>
              <a:t>Stratified Split (fixed seed 42)</a:t>
            </a:r>
            <a:endParaRPr lang="en-US" sz="1400" dirty="0"/>
          </a:p>
        </p:txBody>
      </p:sp>
      <p:sp>
        <p:nvSpPr>
          <p:cNvPr id="8" name="Text 6"/>
          <p:cNvSpPr/>
          <p:nvPr/>
        </p:nvSpPr>
        <p:spPr>
          <a:xfrm>
            <a:off x="548640" y="3886200"/>
            <a:ext cx="1188720" cy="32004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Train</a:t>
            </a:r>
            <a:endParaRPr lang="en-US" sz="1200" dirty="0"/>
          </a:p>
        </p:txBody>
      </p:sp>
      <p:sp>
        <p:nvSpPr>
          <p:cNvPr id="9" name="Shape 7"/>
          <p:cNvSpPr/>
          <p:nvPr/>
        </p:nvSpPr>
        <p:spPr>
          <a:xfrm>
            <a:off x="1828800" y="3904488"/>
            <a:ext cx="3291840" cy="274320"/>
          </a:xfrm>
          <a:prstGeom prst="roundRect">
            <a:avLst>
              <a:gd name="adj" fmla="val 13333"/>
            </a:avLst>
          </a:prstGeom>
          <a:solidFill>
            <a:srgbClr val="E4EAF0"/>
          </a:solidFill>
          <a:ln/>
        </p:spPr>
      </p:sp>
      <p:sp>
        <p:nvSpPr>
          <p:cNvPr id="10" name="Shape 8"/>
          <p:cNvSpPr/>
          <p:nvPr/>
        </p:nvSpPr>
        <p:spPr>
          <a:xfrm>
            <a:off x="1828800" y="3904488"/>
            <a:ext cx="3291840" cy="274320"/>
          </a:xfrm>
          <a:prstGeom prst="roundRect">
            <a:avLst>
              <a:gd name="adj" fmla="val 13333"/>
            </a:avLst>
          </a:prstGeom>
          <a:solidFill>
            <a:srgbClr val="065A82"/>
          </a:solidFill>
          <a:ln/>
        </p:spPr>
      </p:sp>
      <p:sp>
        <p:nvSpPr>
          <p:cNvPr id="11" name="Text 9"/>
          <p:cNvSpPr/>
          <p:nvPr/>
        </p:nvSpPr>
        <p:spPr>
          <a:xfrm>
            <a:off x="5212080" y="3886200"/>
            <a:ext cx="548640" cy="320040"/>
          </a:xfrm>
          <a:prstGeom prst="rect">
            <a:avLst/>
          </a:prstGeom>
          <a:noFill/>
          <a:ln/>
        </p:spPr>
        <p:txBody>
          <a:bodyPr wrap="square"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70%</a:t>
            </a:r>
            <a:endParaRPr lang="en-US" sz="1200" dirty="0"/>
          </a:p>
        </p:txBody>
      </p:sp>
      <p:sp>
        <p:nvSpPr>
          <p:cNvPr id="12" name="Text 10"/>
          <p:cNvSpPr/>
          <p:nvPr/>
        </p:nvSpPr>
        <p:spPr>
          <a:xfrm>
            <a:off x="548640" y="4389120"/>
            <a:ext cx="1188720" cy="32004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Validation</a:t>
            </a:r>
            <a:endParaRPr lang="en-US" sz="1200" dirty="0"/>
          </a:p>
        </p:txBody>
      </p:sp>
      <p:sp>
        <p:nvSpPr>
          <p:cNvPr id="13" name="Shape 11"/>
          <p:cNvSpPr/>
          <p:nvPr/>
        </p:nvSpPr>
        <p:spPr>
          <a:xfrm>
            <a:off x="1828800" y="4407408"/>
            <a:ext cx="3291840" cy="274320"/>
          </a:xfrm>
          <a:prstGeom prst="roundRect">
            <a:avLst>
              <a:gd name="adj" fmla="val 13333"/>
            </a:avLst>
          </a:prstGeom>
          <a:solidFill>
            <a:srgbClr val="E4EAF0"/>
          </a:solidFill>
          <a:ln/>
        </p:spPr>
      </p:sp>
      <p:sp>
        <p:nvSpPr>
          <p:cNvPr id="14" name="Shape 12"/>
          <p:cNvSpPr/>
          <p:nvPr/>
        </p:nvSpPr>
        <p:spPr>
          <a:xfrm>
            <a:off x="1828800" y="4407408"/>
            <a:ext cx="705394" cy="274320"/>
          </a:xfrm>
          <a:prstGeom prst="roundRect">
            <a:avLst>
              <a:gd name="adj" fmla="val 13333"/>
            </a:avLst>
          </a:prstGeom>
          <a:solidFill>
            <a:srgbClr val="1C7293"/>
          </a:solidFill>
          <a:ln/>
        </p:spPr>
      </p:sp>
      <p:sp>
        <p:nvSpPr>
          <p:cNvPr id="15" name="Text 13"/>
          <p:cNvSpPr/>
          <p:nvPr/>
        </p:nvSpPr>
        <p:spPr>
          <a:xfrm>
            <a:off x="5212080" y="4389120"/>
            <a:ext cx="548640" cy="320040"/>
          </a:xfrm>
          <a:prstGeom prst="rect">
            <a:avLst/>
          </a:prstGeom>
          <a:noFill/>
          <a:ln/>
        </p:spPr>
        <p:txBody>
          <a:bodyPr wrap="square"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15%</a:t>
            </a:r>
            <a:endParaRPr lang="en-US" sz="1200" dirty="0"/>
          </a:p>
        </p:txBody>
      </p:sp>
      <p:sp>
        <p:nvSpPr>
          <p:cNvPr id="16" name="Text 14"/>
          <p:cNvSpPr/>
          <p:nvPr/>
        </p:nvSpPr>
        <p:spPr>
          <a:xfrm>
            <a:off x="548640" y="4892040"/>
            <a:ext cx="1188720" cy="320040"/>
          </a:xfrm>
          <a:prstGeom prst="rect">
            <a:avLst/>
          </a:prstGeom>
          <a:noFill/>
          <a:ln/>
        </p:spPr>
        <p:txBody>
          <a:bodyPr wrap="square" rtlCol="0" anchor="ctr"/>
          <a:lstStyle/>
          <a:p>
            <a:pPr marL="0" indent="0">
              <a:buNone/>
            </a:pPr>
            <a:r>
              <a:rPr lang="en-US" sz="1200" dirty="0">
                <a:solidFill>
                  <a:srgbClr val="21295C"/>
                </a:solidFill>
                <a:latin typeface="Calibri" pitchFamily="34" charset="0"/>
                <a:ea typeface="Calibri" pitchFamily="34" charset="-122"/>
                <a:cs typeface="Calibri" pitchFamily="34" charset="-120"/>
              </a:rPr>
              <a:t>Test</a:t>
            </a:r>
            <a:endParaRPr lang="en-US" sz="1200" dirty="0"/>
          </a:p>
        </p:txBody>
      </p:sp>
      <p:sp>
        <p:nvSpPr>
          <p:cNvPr id="17" name="Shape 15"/>
          <p:cNvSpPr/>
          <p:nvPr/>
        </p:nvSpPr>
        <p:spPr>
          <a:xfrm>
            <a:off x="1828800" y="4910328"/>
            <a:ext cx="3291840" cy="274320"/>
          </a:xfrm>
          <a:prstGeom prst="roundRect">
            <a:avLst>
              <a:gd name="adj" fmla="val 13333"/>
            </a:avLst>
          </a:prstGeom>
          <a:solidFill>
            <a:srgbClr val="E4EAF0"/>
          </a:solidFill>
          <a:ln/>
        </p:spPr>
      </p:sp>
      <p:sp>
        <p:nvSpPr>
          <p:cNvPr id="18" name="Shape 16"/>
          <p:cNvSpPr/>
          <p:nvPr/>
        </p:nvSpPr>
        <p:spPr>
          <a:xfrm>
            <a:off x="1828800" y="4910328"/>
            <a:ext cx="705394" cy="274320"/>
          </a:xfrm>
          <a:prstGeom prst="roundRect">
            <a:avLst>
              <a:gd name="adj" fmla="val 13333"/>
            </a:avLst>
          </a:prstGeom>
          <a:solidFill>
            <a:srgbClr val="00C2A8"/>
          </a:solidFill>
          <a:ln/>
        </p:spPr>
      </p:sp>
      <p:sp>
        <p:nvSpPr>
          <p:cNvPr id="19" name="Text 17"/>
          <p:cNvSpPr/>
          <p:nvPr/>
        </p:nvSpPr>
        <p:spPr>
          <a:xfrm>
            <a:off x="5212080" y="4892040"/>
            <a:ext cx="548640" cy="320040"/>
          </a:xfrm>
          <a:prstGeom prst="rect">
            <a:avLst/>
          </a:prstGeom>
          <a:noFill/>
          <a:ln/>
        </p:spPr>
        <p:txBody>
          <a:bodyPr wrap="square"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15%</a:t>
            </a:r>
            <a:endParaRPr lang="en-US" sz="1200" dirty="0"/>
          </a:p>
        </p:txBody>
      </p:sp>
      <p:sp>
        <p:nvSpPr>
          <p:cNvPr id="20" name="Text 18"/>
          <p:cNvSpPr/>
          <p:nvPr/>
        </p:nvSpPr>
        <p:spPr>
          <a:xfrm>
            <a:off x="548640" y="5440680"/>
            <a:ext cx="4572000" cy="320040"/>
          </a:xfrm>
          <a:prstGeom prst="rect">
            <a:avLst/>
          </a:prstGeom>
          <a:noFill/>
          <a:ln/>
        </p:spPr>
        <p:txBody>
          <a:bodyPr wrap="square" rtlCol="0" anchor="ctr"/>
          <a:lstStyle/>
          <a:p>
            <a:pPr marL="0" indent="0">
              <a:buNone/>
            </a:pPr>
            <a:r>
              <a:rPr lang="en-US" sz="1100" i="1" dirty="0">
                <a:solidFill>
                  <a:srgbClr val="5B6B7A"/>
                </a:solidFill>
                <a:latin typeface="Calibri" pitchFamily="34" charset="0"/>
                <a:ea typeface="Calibri" pitchFamily="34" charset="-122"/>
                <a:cs typeface="Calibri" pitchFamily="34" charset="-120"/>
              </a:rPr>
              <a:t>Class proportions preserved in every split</a:t>
            </a:r>
            <a:endParaRPr lang="en-US" sz="1100" dirty="0"/>
          </a:p>
        </p:txBody>
      </p:sp>
      <p:sp>
        <p:nvSpPr>
          <p:cNvPr id="21" name="Shape 19"/>
          <p:cNvSpPr/>
          <p:nvPr/>
        </p:nvSpPr>
        <p:spPr>
          <a:xfrm>
            <a:off x="7589520" y="1691640"/>
            <a:ext cx="4023360" cy="4160520"/>
          </a:xfrm>
          <a:prstGeom prst="roundRect">
            <a:avLst>
              <a:gd name="adj" fmla="val 1818"/>
            </a:avLst>
          </a:prstGeom>
          <a:solidFill>
            <a:srgbClr val="21295C"/>
          </a:solidFill>
          <a:ln/>
        </p:spPr>
      </p:sp>
      <p:sp>
        <p:nvSpPr>
          <p:cNvPr id="22" name="Text 20"/>
          <p:cNvSpPr/>
          <p:nvPr/>
        </p:nvSpPr>
        <p:spPr>
          <a:xfrm>
            <a:off x="7909560" y="1920240"/>
            <a:ext cx="347472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Four Target Classes</a:t>
            </a:r>
            <a:endParaRPr lang="en-US" sz="1400" dirty="0"/>
          </a:p>
        </p:txBody>
      </p:sp>
      <p:sp>
        <p:nvSpPr>
          <p:cNvPr id="23" name="Shape 21"/>
          <p:cNvSpPr/>
          <p:nvPr/>
        </p:nvSpPr>
        <p:spPr>
          <a:xfrm>
            <a:off x="7909560" y="2496312"/>
            <a:ext cx="201168" cy="201168"/>
          </a:xfrm>
          <a:prstGeom prst="ellipse">
            <a:avLst/>
          </a:prstGeom>
          <a:solidFill>
            <a:srgbClr val="00C2A8"/>
          </a:solidFill>
          <a:ln/>
        </p:spPr>
      </p:sp>
      <p:sp>
        <p:nvSpPr>
          <p:cNvPr id="24" name="Text 22"/>
          <p:cNvSpPr/>
          <p:nvPr/>
        </p:nvSpPr>
        <p:spPr>
          <a:xfrm>
            <a:off x="8229600" y="2423160"/>
            <a:ext cx="3108960" cy="36576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Benign</a:t>
            </a:r>
            <a:endParaRPr lang="en-US" sz="1350" dirty="0"/>
          </a:p>
        </p:txBody>
      </p:sp>
      <p:sp>
        <p:nvSpPr>
          <p:cNvPr id="25" name="Shape 23"/>
          <p:cNvSpPr/>
          <p:nvPr/>
        </p:nvSpPr>
        <p:spPr>
          <a:xfrm>
            <a:off x="7909560" y="2999232"/>
            <a:ext cx="201168" cy="201168"/>
          </a:xfrm>
          <a:prstGeom prst="ellipse">
            <a:avLst/>
          </a:prstGeom>
          <a:solidFill>
            <a:srgbClr val="1C7293"/>
          </a:solidFill>
          <a:ln/>
        </p:spPr>
      </p:sp>
      <p:sp>
        <p:nvSpPr>
          <p:cNvPr id="26" name="Text 24"/>
          <p:cNvSpPr/>
          <p:nvPr/>
        </p:nvSpPr>
        <p:spPr>
          <a:xfrm>
            <a:off x="8229600" y="2926080"/>
            <a:ext cx="3108960" cy="36576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Phishing</a:t>
            </a:r>
            <a:endParaRPr lang="en-US" sz="1350" dirty="0"/>
          </a:p>
        </p:txBody>
      </p:sp>
      <p:sp>
        <p:nvSpPr>
          <p:cNvPr id="27" name="Shape 25"/>
          <p:cNvSpPr/>
          <p:nvPr/>
        </p:nvSpPr>
        <p:spPr>
          <a:xfrm>
            <a:off x="7909560" y="3502152"/>
            <a:ext cx="201168" cy="201168"/>
          </a:xfrm>
          <a:prstGeom prst="ellipse">
            <a:avLst/>
          </a:prstGeom>
          <a:solidFill>
            <a:srgbClr val="065A82"/>
          </a:solidFill>
          <a:ln/>
        </p:spPr>
      </p:sp>
      <p:sp>
        <p:nvSpPr>
          <p:cNvPr id="28" name="Text 26"/>
          <p:cNvSpPr/>
          <p:nvPr/>
        </p:nvSpPr>
        <p:spPr>
          <a:xfrm>
            <a:off x="8229600" y="3429000"/>
            <a:ext cx="3108960" cy="36576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Malware</a:t>
            </a:r>
            <a:endParaRPr lang="en-US" sz="1350" dirty="0"/>
          </a:p>
        </p:txBody>
      </p:sp>
      <p:sp>
        <p:nvSpPr>
          <p:cNvPr id="29" name="Shape 27"/>
          <p:cNvSpPr/>
          <p:nvPr/>
        </p:nvSpPr>
        <p:spPr>
          <a:xfrm>
            <a:off x="7909560" y="4005072"/>
            <a:ext cx="201168" cy="201168"/>
          </a:xfrm>
          <a:prstGeom prst="ellipse">
            <a:avLst/>
          </a:prstGeom>
          <a:solidFill>
            <a:srgbClr val="8FB8C9"/>
          </a:solidFill>
          <a:ln/>
        </p:spPr>
      </p:sp>
      <p:sp>
        <p:nvSpPr>
          <p:cNvPr id="30" name="Text 28"/>
          <p:cNvSpPr/>
          <p:nvPr/>
        </p:nvSpPr>
        <p:spPr>
          <a:xfrm>
            <a:off x="8229600" y="3931920"/>
            <a:ext cx="3108960" cy="365760"/>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Defacement</a:t>
            </a:r>
            <a:endParaRPr lang="en-US" sz="1350" dirty="0"/>
          </a:p>
        </p:txBody>
      </p:sp>
      <p:sp>
        <p:nvSpPr>
          <p:cNvPr id="31" name="Shape 29"/>
          <p:cNvSpPr/>
          <p:nvPr/>
        </p:nvSpPr>
        <p:spPr>
          <a:xfrm>
            <a:off x="7909560" y="4480560"/>
            <a:ext cx="3337560" cy="0"/>
          </a:xfrm>
          <a:prstGeom prst="line">
            <a:avLst/>
          </a:prstGeom>
          <a:noFill/>
          <a:ln w="12700">
            <a:solidFill>
              <a:srgbClr val="2E4A63"/>
            </a:solidFill>
            <a:prstDash val="solid"/>
          </a:ln>
        </p:spPr>
      </p:sp>
      <p:sp>
        <p:nvSpPr>
          <p:cNvPr id="32" name="Text 30"/>
          <p:cNvSpPr/>
          <p:nvPr/>
        </p:nvSpPr>
        <p:spPr>
          <a:xfrm>
            <a:off x="7909560" y="4663440"/>
            <a:ext cx="3429000" cy="1280160"/>
          </a:xfrm>
          <a:prstGeom prst="rect">
            <a:avLst/>
          </a:prstGeom>
          <a:noFill/>
          <a:ln/>
        </p:spPr>
        <p:txBody>
          <a:bodyPr wrap="square" rtlCol="0" anchor="t"/>
          <a:lstStyle/>
          <a:p>
            <a:pPr marL="0" indent="0">
              <a:buNone/>
            </a:pPr>
            <a:r>
              <a:rPr lang="en-US" sz="1150" dirty="0">
                <a:solidFill>
                  <a:srgbClr val="C9D8E3"/>
                </a:solidFill>
                <a:latin typeface="Calibri" pitchFamily="34" charset="0"/>
                <a:ea typeface="Calibri" pitchFamily="34" charset="-122"/>
                <a:cs typeface="Calibri" pitchFamily="34" charset="-120"/>
              </a:rPr>
              <a:t>Tokenization: DistilBERT WordPiece tokenizer, max 64 tokens per URL — no manual feature extraction.</a:t>
            </a:r>
            <a:endParaRPr lang="en-US" sz="1150" dirty="0"/>
          </a:p>
        </p:txBody>
      </p:sp>
      <p:sp>
        <p:nvSpPr>
          <p:cNvPr id="33" name="Text 31"/>
          <p:cNvSpPr/>
          <p:nvPr/>
        </p:nvSpPr>
        <p:spPr>
          <a:xfrm>
            <a:off x="11475720" y="6446520"/>
            <a:ext cx="54864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731520"/>
            <a:ext cx="9601200" cy="73152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End-to-End Classification Pipeline</a:t>
            </a:r>
            <a:endParaRPr lang="en-US" sz="3000" dirty="0"/>
          </a:p>
        </p:txBody>
      </p:sp>
      <p:sp>
        <p:nvSpPr>
          <p:cNvPr id="4" name="Shape 2"/>
          <p:cNvSpPr/>
          <p:nvPr/>
        </p:nvSpPr>
        <p:spPr>
          <a:xfrm>
            <a:off x="548640" y="2194560"/>
            <a:ext cx="1965960" cy="2286000"/>
          </a:xfrm>
          <a:prstGeom prst="roundRect">
            <a:avLst>
              <a:gd name="adj" fmla="val 3721"/>
            </a:avLst>
          </a:prstGeom>
          <a:solidFill>
            <a:srgbClr val="065A82"/>
          </a:solidFill>
          <a:ln/>
        </p:spPr>
      </p:sp>
      <p:sp>
        <p:nvSpPr>
          <p:cNvPr id="5" name="Text 3"/>
          <p:cNvSpPr/>
          <p:nvPr/>
        </p:nvSpPr>
        <p:spPr>
          <a:xfrm>
            <a:off x="658368" y="2395728"/>
            <a:ext cx="1746504" cy="640080"/>
          </a:xfrm>
          <a:prstGeom prst="rect">
            <a:avLst/>
          </a:prstGeom>
          <a:noFill/>
          <a:ln/>
        </p:spPr>
        <p:txBody>
          <a:bodyPr wrap="square"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Raw URL</a:t>
            </a:r>
            <a:endParaRPr lang="en-US" sz="1450" dirty="0"/>
          </a:p>
        </p:txBody>
      </p:sp>
      <p:sp>
        <p:nvSpPr>
          <p:cNvPr id="6" name="Text 4"/>
          <p:cNvSpPr/>
          <p:nvPr/>
        </p:nvSpPr>
        <p:spPr>
          <a:xfrm>
            <a:off x="658368" y="3108960"/>
            <a:ext cx="1746504" cy="1188720"/>
          </a:xfrm>
          <a:prstGeom prst="rect">
            <a:avLst/>
          </a:prstGeom>
          <a:noFill/>
          <a:ln/>
        </p:spPr>
        <p:txBody>
          <a:bodyPr wrap="square" rtlCol="0" anchor="t"/>
          <a:lstStyle/>
          <a:p>
            <a:pPr marL="0" indent="0" algn="ctr">
              <a:buNone/>
            </a:pPr>
            <a:r>
              <a:rPr lang="en-US" sz="1050" dirty="0">
                <a:solidFill>
                  <a:srgbClr val="EAF3F7"/>
                </a:solidFill>
                <a:latin typeface="Calibri" pitchFamily="34" charset="0"/>
                <a:ea typeface="Calibri" pitchFamily="34" charset="-122"/>
                <a:cs typeface="Calibri" pitchFamily="34" charset="-120"/>
              </a:rPr>
              <a:t>http://secure-login...</a:t>
            </a:r>
            <a:endParaRPr lang="en-US" sz="1050" dirty="0"/>
          </a:p>
          <a:p>
            <a:pPr marL="0" indent="0" algn="ctr">
              <a:buNone/>
            </a:pPr>
            <a:r>
              <a:rPr lang="en-US" sz="1050" dirty="0">
                <a:solidFill>
                  <a:srgbClr val="EAF3F7"/>
                </a:solidFill>
                <a:latin typeface="Calibri" pitchFamily="34" charset="0"/>
                <a:ea typeface="Calibri" pitchFamily="34" charset="-122"/>
                <a:cs typeface="Calibri" pitchFamily="34" charset="-120"/>
              </a:rPr>
              <a:t>paypa1-account.example</a:t>
            </a:r>
            <a:endParaRPr lang="en-US" sz="1050" dirty="0"/>
          </a:p>
        </p:txBody>
      </p:sp>
      <p:sp>
        <p:nvSpPr>
          <p:cNvPr id="7" name="Text 5"/>
          <p:cNvSpPr/>
          <p:nvPr/>
        </p:nvSpPr>
        <p:spPr>
          <a:xfrm>
            <a:off x="2514600" y="3154680"/>
            <a:ext cx="274320" cy="365760"/>
          </a:xfrm>
          <a:prstGeom prst="rect">
            <a:avLst/>
          </a:prstGeom>
          <a:noFill/>
          <a:ln/>
        </p:spPr>
        <p:txBody>
          <a:bodyPr wrap="square" rtlCol="0" anchor="ctr"/>
          <a:lstStyle/>
          <a:p>
            <a:pPr marL="0" indent="0" algn="ctr">
              <a:buNone/>
            </a:pPr>
            <a:r>
              <a:rPr lang="en-US" sz="1400" b="1" dirty="0">
                <a:solidFill>
                  <a:srgbClr val="5B6B7A"/>
                </a:solidFill>
                <a:latin typeface="Calibri" pitchFamily="34" charset="0"/>
                <a:ea typeface="Calibri" pitchFamily="34" charset="-122"/>
                <a:cs typeface="Calibri" pitchFamily="34" charset="-120"/>
              </a:rPr>
              <a:t>▶</a:t>
            </a:r>
            <a:endParaRPr lang="en-US" sz="1400" dirty="0"/>
          </a:p>
        </p:txBody>
      </p:sp>
      <p:sp>
        <p:nvSpPr>
          <p:cNvPr id="8" name="Shape 6"/>
          <p:cNvSpPr/>
          <p:nvPr/>
        </p:nvSpPr>
        <p:spPr>
          <a:xfrm>
            <a:off x="2788920" y="2194560"/>
            <a:ext cx="1965960" cy="2286000"/>
          </a:xfrm>
          <a:prstGeom prst="roundRect">
            <a:avLst>
              <a:gd name="adj" fmla="val 3721"/>
            </a:avLst>
          </a:prstGeom>
          <a:solidFill>
            <a:srgbClr val="1C7293"/>
          </a:solidFill>
          <a:ln/>
        </p:spPr>
      </p:sp>
      <p:sp>
        <p:nvSpPr>
          <p:cNvPr id="9" name="Text 7"/>
          <p:cNvSpPr/>
          <p:nvPr/>
        </p:nvSpPr>
        <p:spPr>
          <a:xfrm>
            <a:off x="2898648" y="2395728"/>
            <a:ext cx="1746504" cy="640080"/>
          </a:xfrm>
          <a:prstGeom prst="rect">
            <a:avLst/>
          </a:prstGeom>
          <a:noFill/>
          <a:ln/>
        </p:spPr>
        <p:txBody>
          <a:bodyPr wrap="square"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WordPiece</a:t>
            </a:r>
            <a:endParaRPr lang="en-US" sz="1450" dirty="0"/>
          </a:p>
          <a:p>
            <a:pPr marL="0" indent="0" algn="ctr">
              <a:buNone/>
            </a:pPr>
            <a:r>
              <a:rPr lang="en-US" sz="1450" b="1" dirty="0">
                <a:solidFill>
                  <a:srgbClr val="FFFFFF"/>
                </a:solidFill>
                <a:latin typeface="Calibri" pitchFamily="34" charset="0"/>
                <a:ea typeface="Calibri" pitchFamily="34" charset="-122"/>
                <a:cs typeface="Calibri" pitchFamily="34" charset="-120"/>
              </a:rPr>
              <a:t>Tokenizer</a:t>
            </a:r>
            <a:endParaRPr lang="en-US" sz="1450" dirty="0"/>
          </a:p>
        </p:txBody>
      </p:sp>
      <p:sp>
        <p:nvSpPr>
          <p:cNvPr id="10" name="Text 8"/>
          <p:cNvSpPr/>
          <p:nvPr/>
        </p:nvSpPr>
        <p:spPr>
          <a:xfrm>
            <a:off x="2898648" y="3108960"/>
            <a:ext cx="1746504" cy="1188720"/>
          </a:xfrm>
          <a:prstGeom prst="rect">
            <a:avLst/>
          </a:prstGeom>
          <a:noFill/>
          <a:ln/>
        </p:spPr>
        <p:txBody>
          <a:bodyPr wrap="square" rtlCol="0" anchor="t"/>
          <a:lstStyle/>
          <a:p>
            <a:pPr marL="0" indent="0" algn="ctr">
              <a:buNone/>
            </a:pPr>
            <a:r>
              <a:rPr lang="en-US" sz="1050" dirty="0">
                <a:solidFill>
                  <a:srgbClr val="EAF3F7"/>
                </a:solidFill>
                <a:latin typeface="Calibri" pitchFamily="34" charset="0"/>
                <a:ea typeface="Calibri" pitchFamily="34" charset="-122"/>
                <a:cs typeface="Calibri" pitchFamily="34" charset="-120"/>
              </a:rPr>
              <a:t>Max 64 tokens</a:t>
            </a:r>
            <a:endParaRPr lang="en-US" sz="1050" dirty="0"/>
          </a:p>
          <a:p>
            <a:pPr marL="0" indent="0" algn="ctr">
              <a:buNone/>
            </a:pPr>
            <a:r>
              <a:rPr lang="en-US" sz="1050" dirty="0">
                <a:solidFill>
                  <a:srgbClr val="EAF3F7"/>
                </a:solidFill>
                <a:latin typeface="Calibri" pitchFamily="34" charset="0"/>
                <a:ea typeface="Calibri" pitchFamily="34" charset="-122"/>
                <a:cs typeface="Calibri" pitchFamily="34" charset="-120"/>
              </a:rPr>
              <a:t>no manual features</a:t>
            </a:r>
            <a:endParaRPr lang="en-US" sz="1050" dirty="0"/>
          </a:p>
        </p:txBody>
      </p:sp>
      <p:sp>
        <p:nvSpPr>
          <p:cNvPr id="11" name="Text 9"/>
          <p:cNvSpPr/>
          <p:nvPr/>
        </p:nvSpPr>
        <p:spPr>
          <a:xfrm>
            <a:off x="4754880" y="3154680"/>
            <a:ext cx="274320" cy="365760"/>
          </a:xfrm>
          <a:prstGeom prst="rect">
            <a:avLst/>
          </a:prstGeom>
          <a:noFill/>
          <a:ln/>
        </p:spPr>
        <p:txBody>
          <a:bodyPr wrap="square" rtlCol="0" anchor="ctr"/>
          <a:lstStyle/>
          <a:p>
            <a:pPr marL="0" indent="0" algn="ctr">
              <a:buNone/>
            </a:pPr>
            <a:r>
              <a:rPr lang="en-US" sz="1400" b="1" dirty="0">
                <a:solidFill>
                  <a:srgbClr val="5B6B7A"/>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5029200" y="2194560"/>
            <a:ext cx="1965960" cy="2286000"/>
          </a:xfrm>
          <a:prstGeom prst="roundRect">
            <a:avLst>
              <a:gd name="adj" fmla="val 3721"/>
            </a:avLst>
          </a:prstGeom>
          <a:solidFill>
            <a:srgbClr val="065A82"/>
          </a:solidFill>
          <a:ln/>
        </p:spPr>
      </p:sp>
      <p:sp>
        <p:nvSpPr>
          <p:cNvPr id="13" name="Text 11"/>
          <p:cNvSpPr/>
          <p:nvPr/>
        </p:nvSpPr>
        <p:spPr>
          <a:xfrm>
            <a:off x="5138928" y="2395728"/>
            <a:ext cx="1746504" cy="640080"/>
          </a:xfrm>
          <a:prstGeom prst="rect">
            <a:avLst/>
          </a:prstGeom>
          <a:noFill/>
          <a:ln/>
        </p:spPr>
        <p:txBody>
          <a:bodyPr wrap="square"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DistilBERT</a:t>
            </a:r>
            <a:endParaRPr lang="en-US" sz="1450" dirty="0"/>
          </a:p>
          <a:p>
            <a:pPr marL="0" indent="0" algn="ctr">
              <a:buNone/>
            </a:pPr>
            <a:r>
              <a:rPr lang="en-US" sz="1450" b="1" dirty="0">
                <a:solidFill>
                  <a:srgbClr val="FFFFFF"/>
                </a:solidFill>
                <a:latin typeface="Calibri" pitchFamily="34" charset="0"/>
                <a:ea typeface="Calibri" pitchFamily="34" charset="-122"/>
                <a:cs typeface="Calibri" pitchFamily="34" charset="-120"/>
              </a:rPr>
              <a:t>Encoder</a:t>
            </a:r>
            <a:endParaRPr lang="en-US" sz="1450" dirty="0"/>
          </a:p>
        </p:txBody>
      </p:sp>
      <p:sp>
        <p:nvSpPr>
          <p:cNvPr id="14" name="Text 12"/>
          <p:cNvSpPr/>
          <p:nvPr/>
        </p:nvSpPr>
        <p:spPr>
          <a:xfrm>
            <a:off x="5138928" y="3108960"/>
            <a:ext cx="1746504" cy="1188720"/>
          </a:xfrm>
          <a:prstGeom prst="rect">
            <a:avLst/>
          </a:prstGeom>
          <a:noFill/>
          <a:ln/>
        </p:spPr>
        <p:txBody>
          <a:bodyPr wrap="square" rtlCol="0" anchor="t"/>
          <a:lstStyle/>
          <a:p>
            <a:pPr marL="0" indent="0" algn="ctr">
              <a:buNone/>
            </a:pPr>
            <a:r>
              <a:rPr lang="en-US" sz="1050" dirty="0">
                <a:solidFill>
                  <a:srgbClr val="EAF3F7"/>
                </a:solidFill>
                <a:latin typeface="Calibri" pitchFamily="34" charset="0"/>
                <a:ea typeface="Calibri" pitchFamily="34" charset="-122"/>
                <a:cs typeface="Calibri" pitchFamily="34" charset="-120"/>
              </a:rPr>
              <a:t>distilbert-base-uncased</a:t>
            </a:r>
            <a:endParaRPr lang="en-US" sz="1050" dirty="0"/>
          </a:p>
          <a:p>
            <a:pPr marL="0" indent="0" algn="ctr">
              <a:buNone/>
            </a:pPr>
            <a:r>
              <a:rPr lang="en-US" sz="1050" dirty="0">
                <a:solidFill>
                  <a:srgbClr val="EAF3F7"/>
                </a:solidFill>
                <a:latin typeface="Calibri" pitchFamily="34" charset="0"/>
                <a:ea typeface="Calibri" pitchFamily="34" charset="-122"/>
                <a:cs typeface="Calibri" pitchFamily="34" charset="-120"/>
              </a:rPr>
              <a:t>~40% fewer params than BERT</a:t>
            </a:r>
            <a:endParaRPr lang="en-US" sz="1050" dirty="0"/>
          </a:p>
        </p:txBody>
      </p:sp>
      <p:sp>
        <p:nvSpPr>
          <p:cNvPr id="15" name="Text 13"/>
          <p:cNvSpPr/>
          <p:nvPr/>
        </p:nvSpPr>
        <p:spPr>
          <a:xfrm>
            <a:off x="6995160" y="3154680"/>
            <a:ext cx="274320" cy="365760"/>
          </a:xfrm>
          <a:prstGeom prst="rect">
            <a:avLst/>
          </a:prstGeom>
          <a:noFill/>
          <a:ln/>
        </p:spPr>
        <p:txBody>
          <a:bodyPr wrap="square" rtlCol="0" anchor="ctr"/>
          <a:lstStyle/>
          <a:p>
            <a:pPr marL="0" indent="0" algn="ctr">
              <a:buNone/>
            </a:pPr>
            <a:r>
              <a:rPr lang="en-US" sz="1400" b="1" dirty="0">
                <a:solidFill>
                  <a:srgbClr val="5B6B7A"/>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7269480" y="2194560"/>
            <a:ext cx="1965960" cy="2286000"/>
          </a:xfrm>
          <a:prstGeom prst="roundRect">
            <a:avLst>
              <a:gd name="adj" fmla="val 3721"/>
            </a:avLst>
          </a:prstGeom>
          <a:solidFill>
            <a:srgbClr val="1C7293"/>
          </a:solidFill>
          <a:ln/>
        </p:spPr>
      </p:sp>
      <p:sp>
        <p:nvSpPr>
          <p:cNvPr id="17" name="Text 15"/>
          <p:cNvSpPr/>
          <p:nvPr/>
        </p:nvSpPr>
        <p:spPr>
          <a:xfrm>
            <a:off x="7379208" y="2395728"/>
            <a:ext cx="1746504" cy="640080"/>
          </a:xfrm>
          <a:prstGeom prst="rect">
            <a:avLst/>
          </a:prstGeom>
          <a:noFill/>
          <a:ln/>
        </p:spPr>
        <p:txBody>
          <a:bodyPr wrap="square"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Classification</a:t>
            </a:r>
            <a:endParaRPr lang="en-US" sz="1450" dirty="0"/>
          </a:p>
          <a:p>
            <a:pPr marL="0" indent="0" algn="ctr">
              <a:buNone/>
            </a:pPr>
            <a:r>
              <a:rPr lang="en-US" sz="1450" b="1" dirty="0">
                <a:solidFill>
                  <a:srgbClr val="FFFFFF"/>
                </a:solidFill>
                <a:latin typeface="Calibri" pitchFamily="34" charset="0"/>
                <a:ea typeface="Calibri" pitchFamily="34" charset="-122"/>
                <a:cs typeface="Calibri" pitchFamily="34" charset="-120"/>
              </a:rPr>
              <a:t>Head</a:t>
            </a:r>
            <a:endParaRPr lang="en-US" sz="1450" dirty="0"/>
          </a:p>
        </p:txBody>
      </p:sp>
      <p:sp>
        <p:nvSpPr>
          <p:cNvPr id="18" name="Text 16"/>
          <p:cNvSpPr/>
          <p:nvPr/>
        </p:nvSpPr>
        <p:spPr>
          <a:xfrm>
            <a:off x="7379208" y="3108960"/>
            <a:ext cx="1746504" cy="1188720"/>
          </a:xfrm>
          <a:prstGeom prst="rect">
            <a:avLst/>
          </a:prstGeom>
          <a:noFill/>
          <a:ln/>
        </p:spPr>
        <p:txBody>
          <a:bodyPr wrap="square" rtlCol="0" anchor="t"/>
          <a:lstStyle/>
          <a:p>
            <a:pPr marL="0" indent="0" algn="ctr">
              <a:buNone/>
            </a:pPr>
            <a:r>
              <a:rPr lang="en-US" sz="1050" dirty="0">
                <a:solidFill>
                  <a:srgbClr val="EAF3F7"/>
                </a:solidFill>
                <a:latin typeface="Calibri" pitchFamily="34" charset="0"/>
                <a:ea typeface="Calibri" pitchFamily="34" charset="-122"/>
                <a:cs typeface="Calibri" pitchFamily="34" charset="-120"/>
              </a:rPr>
              <a:t>4-way softmax over</a:t>
            </a:r>
            <a:endParaRPr lang="en-US" sz="1050" dirty="0"/>
          </a:p>
          <a:p>
            <a:pPr marL="0" indent="0" algn="ctr">
              <a:buNone/>
            </a:pPr>
            <a:r>
              <a:rPr lang="en-US" sz="1050" dirty="0">
                <a:solidFill>
                  <a:srgbClr val="EAF3F7"/>
                </a:solidFill>
                <a:latin typeface="Calibri" pitchFamily="34" charset="0"/>
                <a:ea typeface="Calibri" pitchFamily="34" charset="-122"/>
                <a:cs typeface="Calibri" pitchFamily="34" charset="-120"/>
              </a:rPr>
              <a:t>URL categories</a:t>
            </a:r>
            <a:endParaRPr lang="en-US" sz="1050" dirty="0"/>
          </a:p>
        </p:txBody>
      </p:sp>
      <p:sp>
        <p:nvSpPr>
          <p:cNvPr id="19" name="Text 17"/>
          <p:cNvSpPr/>
          <p:nvPr/>
        </p:nvSpPr>
        <p:spPr>
          <a:xfrm>
            <a:off x="9235440" y="3154680"/>
            <a:ext cx="274320" cy="365760"/>
          </a:xfrm>
          <a:prstGeom prst="rect">
            <a:avLst/>
          </a:prstGeom>
          <a:noFill/>
          <a:ln/>
        </p:spPr>
        <p:txBody>
          <a:bodyPr wrap="square" rtlCol="0" anchor="ctr"/>
          <a:lstStyle/>
          <a:p>
            <a:pPr marL="0" indent="0" algn="ctr">
              <a:buNone/>
            </a:pPr>
            <a:r>
              <a:rPr lang="en-US" sz="1400" b="1" dirty="0">
                <a:solidFill>
                  <a:srgbClr val="5B6B7A"/>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9509760" y="2194560"/>
            <a:ext cx="1965960" cy="2286000"/>
          </a:xfrm>
          <a:prstGeom prst="roundRect">
            <a:avLst>
              <a:gd name="adj" fmla="val 3721"/>
            </a:avLst>
          </a:prstGeom>
          <a:solidFill>
            <a:srgbClr val="00C2A8"/>
          </a:solidFill>
          <a:ln/>
        </p:spPr>
      </p:sp>
      <p:sp>
        <p:nvSpPr>
          <p:cNvPr id="21" name="Text 19"/>
          <p:cNvSpPr/>
          <p:nvPr/>
        </p:nvSpPr>
        <p:spPr>
          <a:xfrm>
            <a:off x="9619488" y="2395728"/>
            <a:ext cx="1746504" cy="640080"/>
          </a:xfrm>
          <a:prstGeom prst="rect">
            <a:avLst/>
          </a:prstGeom>
          <a:noFill/>
          <a:ln/>
        </p:spPr>
        <p:txBody>
          <a:bodyPr wrap="square"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Verdict +</a:t>
            </a:r>
            <a:endParaRPr lang="en-US" sz="1450" dirty="0"/>
          </a:p>
          <a:p>
            <a:pPr marL="0" indent="0" algn="ctr">
              <a:buNone/>
            </a:pPr>
            <a:r>
              <a:rPr lang="en-US" sz="1450" b="1" dirty="0">
                <a:solidFill>
                  <a:srgbClr val="FFFFFF"/>
                </a:solidFill>
                <a:latin typeface="Calibri" pitchFamily="34" charset="0"/>
                <a:ea typeface="Calibri" pitchFamily="34" charset="-122"/>
                <a:cs typeface="Calibri" pitchFamily="34" charset="-120"/>
              </a:rPr>
              <a:t>Confidence</a:t>
            </a:r>
            <a:endParaRPr lang="en-US" sz="1450" dirty="0"/>
          </a:p>
        </p:txBody>
      </p:sp>
      <p:sp>
        <p:nvSpPr>
          <p:cNvPr id="22" name="Text 20"/>
          <p:cNvSpPr/>
          <p:nvPr/>
        </p:nvSpPr>
        <p:spPr>
          <a:xfrm>
            <a:off x="9619488" y="3108960"/>
            <a:ext cx="1746504" cy="1188720"/>
          </a:xfrm>
          <a:prstGeom prst="rect">
            <a:avLst/>
          </a:prstGeom>
          <a:noFill/>
          <a:ln/>
        </p:spPr>
        <p:txBody>
          <a:bodyPr wrap="square" rtlCol="0" anchor="t"/>
          <a:lstStyle/>
          <a:p>
            <a:pPr marL="0" indent="0" algn="ctr">
              <a:buNone/>
            </a:pPr>
            <a:r>
              <a:rPr lang="en-US" sz="1050" dirty="0">
                <a:solidFill>
                  <a:srgbClr val="EAF3F7"/>
                </a:solidFill>
                <a:latin typeface="Calibri" pitchFamily="34" charset="0"/>
                <a:ea typeface="Calibri" pitchFamily="34" charset="-122"/>
                <a:cs typeface="Calibri" pitchFamily="34" charset="-120"/>
              </a:rPr>
              <a:t>Below 0.60 →</a:t>
            </a:r>
            <a:endParaRPr lang="en-US" sz="1050" dirty="0"/>
          </a:p>
          <a:p>
            <a:pPr marL="0" indent="0" algn="ctr">
              <a:buNone/>
            </a:pPr>
            <a:r>
              <a:rPr lang="en-US" sz="1050" dirty="0">
                <a:solidFill>
                  <a:srgbClr val="EAF3F7"/>
                </a:solidFill>
                <a:latin typeface="Calibri" pitchFamily="34" charset="0"/>
                <a:ea typeface="Calibri" pitchFamily="34" charset="-122"/>
                <a:cs typeface="Calibri" pitchFamily="34" charset="-120"/>
              </a:rPr>
              <a:t>flagged “uncertain”</a:t>
            </a:r>
            <a:endParaRPr lang="en-US" sz="1050" dirty="0"/>
          </a:p>
        </p:txBody>
      </p:sp>
      <p:sp>
        <p:nvSpPr>
          <p:cNvPr id="23" name="Text 21"/>
          <p:cNvSpPr/>
          <p:nvPr/>
        </p:nvSpPr>
        <p:spPr>
          <a:xfrm>
            <a:off x="548640" y="4800600"/>
            <a:ext cx="11064240" cy="457200"/>
          </a:xfrm>
          <a:prstGeom prst="rect">
            <a:avLst/>
          </a:prstGeom>
          <a:noFill/>
          <a:ln/>
        </p:spPr>
        <p:txBody>
          <a:bodyPr wrap="square" rtlCol="0" anchor="ctr"/>
          <a:lstStyle/>
          <a:p>
            <a:pPr marL="0" indent="0">
              <a:buNone/>
            </a:pPr>
            <a:r>
              <a:rPr lang="en-US" sz="1250" i="1" dirty="0">
                <a:solidFill>
                  <a:srgbClr val="5B6B7A"/>
                </a:solidFill>
                <a:latin typeface="Calibri" pitchFamily="34" charset="0"/>
                <a:ea typeface="Calibri" pitchFamily="34" charset="-122"/>
                <a:cs typeface="Calibri" pitchFamily="34" charset="-120"/>
              </a:rPr>
              <a:t>The same pipeline runs at inference — the CLI, evaluation script, and web demo all call one shared prediction module.</a:t>
            </a:r>
            <a:endParaRPr lang="en-US" sz="1250" dirty="0"/>
          </a:p>
        </p:txBody>
      </p:sp>
      <p:sp>
        <p:nvSpPr>
          <p:cNvPr id="24" name="Text 22"/>
          <p:cNvSpPr/>
          <p:nvPr/>
        </p:nvSpPr>
        <p:spPr>
          <a:xfrm>
            <a:off x="11475720" y="6446520"/>
            <a:ext cx="54864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731520"/>
            <a:ext cx="9601200" cy="73152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Model Architecture</a:t>
            </a:r>
            <a:endParaRPr lang="en-US" sz="3000" dirty="0"/>
          </a:p>
        </p:txBody>
      </p:sp>
      <p:sp>
        <p:nvSpPr>
          <p:cNvPr id="4" name="Badge 1"/>
          <p:cNvSpPr/>
          <p:nvPr/>
        </p:nvSpPr>
        <p:spPr>
          <a:xfrm>
            <a:off x="548640" y="1636776"/>
            <a:ext cx="365760" cy="365760"/>
          </a:xfrm>
          <a:prstGeom prst="ellipse">
            <a:avLst/>
          </a:prstGeom>
          <a:solidFill>
            <a:srgbClr val="065A82"/>
          </a:solidFill>
          <a:ln/>
        </p:spPr>
      </p:sp>
      <p:sp>
        <p:nvSpPr>
          <p:cNvPr id="5" name="BadgeNum 1"/>
          <p:cNvSpPr/>
          <p:nvPr/>
        </p:nvSpPr>
        <p:spPr>
          <a:xfrm>
            <a:off x="548640" y="1636776"/>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Box 1"/>
          <p:cNvSpPr/>
          <p:nvPr/>
        </p:nvSpPr>
        <p:spPr>
          <a:xfrm>
            <a:off x="1005840" y="1554480"/>
            <a:ext cx="3474720" cy="530352"/>
          </a:xfrm>
          <a:prstGeom prst="roundRect">
            <a:avLst>
              <a:gd name="adj" fmla="val 12069"/>
            </a:avLst>
          </a:prstGeom>
          <a:solidFill>
            <a:srgbClr val="065A82"/>
          </a:solidFill>
          <a:ln/>
        </p:spPr>
      </p:sp>
      <p:sp>
        <p:nvSpPr>
          <p:cNvPr id="7" name="BoxText 1"/>
          <p:cNvSpPr/>
          <p:nvPr/>
        </p:nvSpPr>
        <p:spPr>
          <a:xfrm>
            <a:off x="1005840" y="1554480"/>
            <a:ext cx="3474720" cy="53035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URL Input</a:t>
            </a:r>
            <a:endParaRPr lang="en-US" sz="1400" dirty="0"/>
          </a:p>
        </p:txBody>
      </p:sp>
      <p:sp>
        <p:nvSpPr>
          <p:cNvPr id="8" name="Arrow 0"/>
          <p:cNvSpPr/>
          <p:nvPr/>
        </p:nvSpPr>
        <p:spPr>
          <a:xfrm>
            <a:off x="1005840" y="2084832"/>
            <a:ext cx="3474720" cy="256032"/>
          </a:xfrm>
          <a:prstGeom prst="rect">
            <a:avLst/>
          </a:prstGeom>
          <a:noFill/>
          <a:ln/>
        </p:spPr>
        <p:txBody>
          <a:bodyPr wrap="square" rtlCol="0" anchor="ctr"/>
          <a:lstStyle/>
          <a:p>
            <a:pPr marL="0" indent="0" algn="ctr">
              <a:buNone/>
            </a:pPr>
            <a:r>
              <a:rPr lang="en-US" sz="1600" b="1" dirty="0">
                <a:solidFill>
                  <a:srgbClr val="5B6B7A"/>
                </a:solidFill>
                <a:latin typeface="Calibri" pitchFamily="34" charset="0"/>
                <a:ea typeface="Calibri" pitchFamily="34" charset="-122"/>
                <a:cs typeface="Calibri" pitchFamily="34" charset="-120"/>
              </a:rPr>
              <a:t>↓</a:t>
            </a:r>
            <a:endParaRPr lang="en-US" sz="1600" dirty="0"/>
          </a:p>
        </p:txBody>
      </p:sp>
      <p:sp>
        <p:nvSpPr>
          <p:cNvPr id="9" name="Badge 2"/>
          <p:cNvSpPr/>
          <p:nvPr/>
        </p:nvSpPr>
        <p:spPr>
          <a:xfrm>
            <a:off x="548640" y="2423160"/>
            <a:ext cx="365760" cy="365760"/>
          </a:xfrm>
          <a:prstGeom prst="ellipse">
            <a:avLst/>
          </a:prstGeom>
          <a:solidFill>
            <a:srgbClr val="1C7293"/>
          </a:solidFill>
          <a:ln/>
        </p:spPr>
      </p:sp>
      <p:sp>
        <p:nvSpPr>
          <p:cNvPr id="10" name="BadgeNum 2"/>
          <p:cNvSpPr/>
          <p:nvPr/>
        </p:nvSpPr>
        <p:spPr>
          <a:xfrm>
            <a:off x="548640" y="2423160"/>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Box 2"/>
          <p:cNvSpPr/>
          <p:nvPr/>
        </p:nvSpPr>
        <p:spPr>
          <a:xfrm>
            <a:off x="1005840" y="2340864"/>
            <a:ext cx="3474720" cy="530352"/>
          </a:xfrm>
          <a:prstGeom prst="roundRect">
            <a:avLst>
              <a:gd name="adj" fmla="val 12069"/>
            </a:avLst>
          </a:prstGeom>
          <a:solidFill>
            <a:srgbClr val="1C7293"/>
          </a:solidFill>
          <a:ln/>
        </p:spPr>
      </p:sp>
      <p:sp>
        <p:nvSpPr>
          <p:cNvPr id="12" name="BoxText 2"/>
          <p:cNvSpPr/>
          <p:nvPr/>
        </p:nvSpPr>
        <p:spPr>
          <a:xfrm>
            <a:off x="1005840" y="2340864"/>
            <a:ext cx="3474720" cy="53035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Tokenizer</a:t>
            </a:r>
            <a:endParaRPr lang="en-US" sz="1400" dirty="0"/>
          </a:p>
        </p:txBody>
      </p:sp>
      <p:sp>
        <p:nvSpPr>
          <p:cNvPr id="13" name="Arrow 1"/>
          <p:cNvSpPr/>
          <p:nvPr/>
        </p:nvSpPr>
        <p:spPr>
          <a:xfrm>
            <a:off x="1005840" y="2871216"/>
            <a:ext cx="3474720" cy="256032"/>
          </a:xfrm>
          <a:prstGeom prst="rect">
            <a:avLst/>
          </a:prstGeom>
          <a:noFill/>
          <a:ln/>
        </p:spPr>
        <p:txBody>
          <a:bodyPr wrap="square" rtlCol="0" anchor="ctr"/>
          <a:lstStyle/>
          <a:p>
            <a:pPr marL="0" indent="0" algn="ctr">
              <a:buNone/>
            </a:pPr>
            <a:r>
              <a:rPr lang="en-US" sz="1600" b="1" dirty="0">
                <a:solidFill>
                  <a:srgbClr val="5B6B7A"/>
                </a:solidFill>
                <a:latin typeface="Calibri" pitchFamily="34" charset="0"/>
                <a:ea typeface="Calibri" pitchFamily="34" charset="-122"/>
                <a:cs typeface="Calibri" pitchFamily="34" charset="-120"/>
              </a:rPr>
              <a:t>↓</a:t>
            </a:r>
            <a:endParaRPr lang="en-US" sz="1600" dirty="0"/>
          </a:p>
        </p:txBody>
      </p:sp>
      <p:sp>
        <p:nvSpPr>
          <p:cNvPr id="14" name="Badge 3"/>
          <p:cNvSpPr/>
          <p:nvPr/>
        </p:nvSpPr>
        <p:spPr>
          <a:xfrm>
            <a:off x="548640" y="3209544"/>
            <a:ext cx="365760" cy="365760"/>
          </a:xfrm>
          <a:prstGeom prst="ellipse">
            <a:avLst/>
          </a:prstGeom>
          <a:solidFill>
            <a:srgbClr val="065A82"/>
          </a:solidFill>
          <a:ln/>
        </p:spPr>
      </p:sp>
      <p:sp>
        <p:nvSpPr>
          <p:cNvPr id="15" name="BadgeNum 3"/>
          <p:cNvSpPr/>
          <p:nvPr/>
        </p:nvSpPr>
        <p:spPr>
          <a:xfrm>
            <a:off x="548640" y="3209544"/>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Box 3"/>
          <p:cNvSpPr/>
          <p:nvPr/>
        </p:nvSpPr>
        <p:spPr>
          <a:xfrm>
            <a:off x="1005840" y="3127248"/>
            <a:ext cx="3474720" cy="530352"/>
          </a:xfrm>
          <a:prstGeom prst="roundRect">
            <a:avLst>
              <a:gd name="adj" fmla="val 12069"/>
            </a:avLst>
          </a:prstGeom>
          <a:solidFill>
            <a:srgbClr val="065A82"/>
          </a:solidFill>
          <a:ln/>
        </p:spPr>
      </p:sp>
      <p:sp>
        <p:nvSpPr>
          <p:cNvPr id="17" name="BoxText 3"/>
          <p:cNvSpPr/>
          <p:nvPr/>
        </p:nvSpPr>
        <p:spPr>
          <a:xfrm>
            <a:off x="1005840" y="3127248"/>
            <a:ext cx="3474720" cy="53035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DistilBERT Encoder</a:t>
            </a:r>
            <a:endParaRPr lang="en-US" sz="1400" dirty="0"/>
          </a:p>
        </p:txBody>
      </p:sp>
      <p:sp>
        <p:nvSpPr>
          <p:cNvPr id="18" name="Arrow 2"/>
          <p:cNvSpPr/>
          <p:nvPr/>
        </p:nvSpPr>
        <p:spPr>
          <a:xfrm>
            <a:off x="1005840" y="3657600"/>
            <a:ext cx="3474720" cy="256032"/>
          </a:xfrm>
          <a:prstGeom prst="rect">
            <a:avLst/>
          </a:prstGeom>
          <a:noFill/>
          <a:ln/>
        </p:spPr>
        <p:txBody>
          <a:bodyPr wrap="square" rtlCol="0" anchor="ctr"/>
          <a:lstStyle/>
          <a:p>
            <a:pPr marL="0" indent="0" algn="ctr">
              <a:buNone/>
            </a:pPr>
            <a:r>
              <a:rPr lang="en-US" sz="1600" b="1" dirty="0">
                <a:solidFill>
                  <a:srgbClr val="5B6B7A"/>
                </a:solidFill>
                <a:latin typeface="Calibri" pitchFamily="34" charset="0"/>
                <a:ea typeface="Calibri" pitchFamily="34" charset="-122"/>
                <a:cs typeface="Calibri" pitchFamily="34" charset="-120"/>
              </a:rPr>
              <a:t>↓</a:t>
            </a:r>
            <a:endParaRPr lang="en-US" sz="1600" dirty="0"/>
          </a:p>
        </p:txBody>
      </p:sp>
      <p:sp>
        <p:nvSpPr>
          <p:cNvPr id="19" name="Badge 4"/>
          <p:cNvSpPr/>
          <p:nvPr/>
        </p:nvSpPr>
        <p:spPr>
          <a:xfrm>
            <a:off x="548640" y="3995928"/>
            <a:ext cx="365760" cy="365760"/>
          </a:xfrm>
          <a:prstGeom prst="ellipse">
            <a:avLst/>
          </a:prstGeom>
          <a:solidFill>
            <a:srgbClr val="1C7293"/>
          </a:solidFill>
          <a:ln/>
        </p:spPr>
      </p:sp>
      <p:sp>
        <p:nvSpPr>
          <p:cNvPr id="20" name="BadgeNum 4"/>
          <p:cNvSpPr/>
          <p:nvPr/>
        </p:nvSpPr>
        <p:spPr>
          <a:xfrm>
            <a:off x="548640" y="3995928"/>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Box 4"/>
          <p:cNvSpPr/>
          <p:nvPr/>
        </p:nvSpPr>
        <p:spPr>
          <a:xfrm>
            <a:off x="1005840" y="3913632"/>
            <a:ext cx="3474720" cy="530352"/>
          </a:xfrm>
          <a:prstGeom prst="roundRect">
            <a:avLst>
              <a:gd name="adj" fmla="val 12069"/>
            </a:avLst>
          </a:prstGeom>
          <a:solidFill>
            <a:srgbClr val="1C7293"/>
          </a:solidFill>
          <a:ln/>
        </p:spPr>
      </p:sp>
      <p:sp>
        <p:nvSpPr>
          <p:cNvPr id="22" name="BoxText 4"/>
          <p:cNvSpPr/>
          <p:nvPr/>
        </p:nvSpPr>
        <p:spPr>
          <a:xfrm>
            <a:off x="1005840" y="3913632"/>
            <a:ext cx="3474720" cy="53035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Dense Layer</a:t>
            </a:r>
            <a:endParaRPr lang="en-US" sz="1400" dirty="0"/>
          </a:p>
        </p:txBody>
      </p:sp>
      <p:sp>
        <p:nvSpPr>
          <p:cNvPr id="23" name="Arrow 3"/>
          <p:cNvSpPr/>
          <p:nvPr/>
        </p:nvSpPr>
        <p:spPr>
          <a:xfrm>
            <a:off x="1005840" y="4443984"/>
            <a:ext cx="3474720" cy="256032"/>
          </a:xfrm>
          <a:prstGeom prst="rect">
            <a:avLst/>
          </a:prstGeom>
          <a:noFill/>
          <a:ln/>
        </p:spPr>
        <p:txBody>
          <a:bodyPr wrap="square" rtlCol="0" anchor="ctr"/>
          <a:lstStyle/>
          <a:p>
            <a:pPr marL="0" indent="0" algn="ctr">
              <a:buNone/>
            </a:pPr>
            <a:r>
              <a:rPr lang="en-US" sz="1600" b="1" dirty="0">
                <a:solidFill>
                  <a:srgbClr val="5B6B7A"/>
                </a:solidFill>
                <a:latin typeface="Calibri" pitchFamily="34" charset="0"/>
                <a:ea typeface="Calibri" pitchFamily="34" charset="-122"/>
                <a:cs typeface="Calibri" pitchFamily="34" charset="-120"/>
              </a:rPr>
              <a:t>↓</a:t>
            </a:r>
            <a:endParaRPr lang="en-US" sz="1600" dirty="0"/>
          </a:p>
        </p:txBody>
      </p:sp>
      <p:sp>
        <p:nvSpPr>
          <p:cNvPr id="24" name="Badge 5"/>
          <p:cNvSpPr/>
          <p:nvPr/>
        </p:nvSpPr>
        <p:spPr>
          <a:xfrm>
            <a:off x="548640" y="4782312"/>
            <a:ext cx="365760" cy="365760"/>
          </a:xfrm>
          <a:prstGeom prst="ellipse">
            <a:avLst/>
          </a:prstGeom>
          <a:solidFill>
            <a:srgbClr val="065A82"/>
          </a:solidFill>
          <a:ln/>
        </p:spPr>
      </p:sp>
      <p:sp>
        <p:nvSpPr>
          <p:cNvPr id="25" name="BadgeNum 5"/>
          <p:cNvSpPr/>
          <p:nvPr/>
        </p:nvSpPr>
        <p:spPr>
          <a:xfrm>
            <a:off x="548640" y="4782312"/>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Box 5"/>
          <p:cNvSpPr/>
          <p:nvPr/>
        </p:nvSpPr>
        <p:spPr>
          <a:xfrm>
            <a:off x="1005840" y="4700016"/>
            <a:ext cx="3474720" cy="530352"/>
          </a:xfrm>
          <a:prstGeom prst="roundRect">
            <a:avLst>
              <a:gd name="adj" fmla="val 12069"/>
            </a:avLst>
          </a:prstGeom>
          <a:solidFill>
            <a:srgbClr val="065A82"/>
          </a:solidFill>
          <a:ln/>
        </p:spPr>
      </p:sp>
      <p:sp>
        <p:nvSpPr>
          <p:cNvPr id="27" name="BoxText 5"/>
          <p:cNvSpPr/>
          <p:nvPr/>
        </p:nvSpPr>
        <p:spPr>
          <a:xfrm>
            <a:off x="1005840" y="4700016"/>
            <a:ext cx="3474720" cy="53035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Softmax</a:t>
            </a:r>
            <a:endParaRPr lang="en-US" sz="1400" dirty="0"/>
          </a:p>
        </p:txBody>
      </p:sp>
      <p:sp>
        <p:nvSpPr>
          <p:cNvPr id="28" name="Arrow 4"/>
          <p:cNvSpPr/>
          <p:nvPr/>
        </p:nvSpPr>
        <p:spPr>
          <a:xfrm>
            <a:off x="1005840" y="5230368"/>
            <a:ext cx="3474720" cy="256032"/>
          </a:xfrm>
          <a:prstGeom prst="rect">
            <a:avLst/>
          </a:prstGeom>
          <a:noFill/>
          <a:ln/>
        </p:spPr>
        <p:txBody>
          <a:bodyPr wrap="square" rtlCol="0" anchor="ctr"/>
          <a:lstStyle/>
          <a:p>
            <a:pPr marL="0" indent="0" algn="ctr">
              <a:buNone/>
            </a:pPr>
            <a:r>
              <a:rPr lang="en-US" sz="1600" b="1" dirty="0">
                <a:solidFill>
                  <a:srgbClr val="5B6B7A"/>
                </a:solidFill>
                <a:latin typeface="Calibri" pitchFamily="34" charset="0"/>
                <a:ea typeface="Calibri" pitchFamily="34" charset="-122"/>
                <a:cs typeface="Calibri" pitchFamily="34" charset="-120"/>
              </a:rPr>
              <a:t>↓</a:t>
            </a:r>
            <a:endParaRPr lang="en-US" sz="1600" dirty="0"/>
          </a:p>
        </p:txBody>
      </p:sp>
      <p:sp>
        <p:nvSpPr>
          <p:cNvPr id="29" name="Badge 6"/>
          <p:cNvSpPr/>
          <p:nvPr/>
        </p:nvSpPr>
        <p:spPr>
          <a:xfrm>
            <a:off x="548640" y="5568696"/>
            <a:ext cx="365760" cy="365760"/>
          </a:xfrm>
          <a:prstGeom prst="ellipse">
            <a:avLst/>
          </a:prstGeom>
          <a:solidFill>
            <a:srgbClr val="00C2A8"/>
          </a:solidFill>
          <a:ln/>
        </p:spPr>
      </p:sp>
      <p:sp>
        <p:nvSpPr>
          <p:cNvPr id="30" name="BadgeNum 6"/>
          <p:cNvSpPr/>
          <p:nvPr/>
        </p:nvSpPr>
        <p:spPr>
          <a:xfrm>
            <a:off x="548640" y="5568696"/>
            <a:ext cx="36576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1" name="Box 6"/>
          <p:cNvSpPr/>
          <p:nvPr/>
        </p:nvSpPr>
        <p:spPr>
          <a:xfrm>
            <a:off x="1005840" y="5486400"/>
            <a:ext cx="3474720" cy="530352"/>
          </a:xfrm>
          <a:prstGeom prst="roundRect">
            <a:avLst>
              <a:gd name="adj" fmla="val 12069"/>
            </a:avLst>
          </a:prstGeom>
          <a:solidFill>
            <a:srgbClr val="00C2A8"/>
          </a:solidFill>
          <a:ln/>
        </p:spPr>
      </p:sp>
      <p:sp>
        <p:nvSpPr>
          <p:cNvPr id="32" name="BoxText 6"/>
          <p:cNvSpPr/>
          <p:nvPr/>
        </p:nvSpPr>
        <p:spPr>
          <a:xfrm>
            <a:off x="1005840" y="5486400"/>
            <a:ext cx="3474720" cy="53035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Class Prediction</a:t>
            </a:r>
            <a:endParaRPr lang="en-US" sz="1400" dirty="0"/>
          </a:p>
        </p:txBody>
      </p:sp>
      <p:sp>
        <p:nvSpPr>
          <p:cNvPr id="33" name="Panel BG"/>
          <p:cNvSpPr/>
          <p:nvPr/>
        </p:nvSpPr>
        <p:spPr>
          <a:xfrm>
            <a:off x="4846320" y="1554480"/>
            <a:ext cx="6797040" cy="4462272"/>
          </a:xfrm>
          <a:prstGeom prst="roundRect">
            <a:avLst>
              <a:gd name="adj" fmla="val 2041"/>
            </a:avLst>
          </a:prstGeom>
          <a:solidFill>
            <a:srgbClr val="21295C"/>
          </a:solidFill>
          <a:ln/>
        </p:spPr>
      </p:sp>
      <p:sp>
        <p:nvSpPr>
          <p:cNvPr id="35" name="ItemLabel 0"/>
          <p:cNvSpPr/>
          <p:nvPr/>
        </p:nvSpPr>
        <p:spPr>
          <a:xfrm>
            <a:off x="5120640" y="2194560"/>
            <a:ext cx="6248400" cy="274320"/>
          </a:xfrm>
          <a:prstGeom prst="rect">
            <a:avLst/>
          </a:prstGeom>
          <a:noFill/>
          <a:ln/>
        </p:spPr>
        <p:txBody>
          <a:bodyPr wrap="square" rtlCol="0" anchor="ctr"/>
          <a:lstStyle/>
          <a:p>
            <a:pPr marL="0" indent="0">
              <a:buNone/>
            </a:pPr>
            <a:r>
              <a:rPr lang="en-US" sz="1150" b="1" dirty="0">
                <a:solidFill>
                  <a:srgbClr val="00C2A8"/>
                </a:solidFill>
                <a:latin typeface="Calibri" pitchFamily="34" charset="0"/>
                <a:ea typeface="Calibri" pitchFamily="34" charset="-122"/>
                <a:cs typeface="Calibri" pitchFamily="34" charset="-120"/>
              </a:rPr>
              <a:t>URL Input</a:t>
            </a:r>
            <a:endParaRPr lang="en-US" sz="1150" dirty="0"/>
          </a:p>
        </p:txBody>
      </p:sp>
      <p:sp>
        <p:nvSpPr>
          <p:cNvPr id="36" name="ItemDesc 0"/>
          <p:cNvSpPr/>
          <p:nvPr/>
        </p:nvSpPr>
        <p:spPr>
          <a:xfrm>
            <a:off x="5120640" y="2468880"/>
            <a:ext cx="6248400" cy="289560"/>
          </a:xfrm>
          <a:prstGeom prst="rect">
            <a:avLst/>
          </a:prstGeom>
          <a:noFill/>
          <a:ln/>
        </p:spPr>
        <p:txBody>
          <a:bodyPr wrap="square" rtlCol="0" anchor="t"/>
          <a:lstStyle/>
          <a:p>
            <a:pPr marL="0" indent="0">
              <a:buNone/>
            </a:pPr>
            <a:r>
              <a:rPr lang="en-US" sz="1000" dirty="0">
                <a:solidFill>
                  <a:srgbClr val="D6E4EC"/>
                </a:solidFill>
                <a:latin typeface="Calibri" pitchFamily="34" charset="0"/>
                <a:ea typeface="Calibri" pitchFamily="34" charset="-122"/>
                <a:cs typeface="Calibri" pitchFamily="34" charset="-120"/>
              </a:rPr>
              <a:t>Raw string passed in as-is — e.g. http://secure-login.paypa1-account.example/verify</a:t>
            </a:r>
            <a:endParaRPr lang="en-US" sz="1000" dirty="0"/>
          </a:p>
        </p:txBody>
      </p:sp>
      <p:sp>
        <p:nvSpPr>
          <p:cNvPr id="37" name="ItemLabel 1"/>
          <p:cNvSpPr/>
          <p:nvPr/>
        </p:nvSpPr>
        <p:spPr>
          <a:xfrm>
            <a:off x="5120640" y="2785872"/>
            <a:ext cx="6248400" cy="274320"/>
          </a:xfrm>
          <a:prstGeom prst="rect">
            <a:avLst/>
          </a:prstGeom>
          <a:noFill/>
          <a:ln/>
        </p:spPr>
        <p:txBody>
          <a:bodyPr wrap="square" rtlCol="0" anchor="ctr"/>
          <a:lstStyle/>
          <a:p>
            <a:pPr marL="0" indent="0">
              <a:buNone/>
            </a:pPr>
            <a:r>
              <a:rPr lang="en-US" sz="1150" b="1" dirty="0">
                <a:solidFill>
                  <a:srgbClr val="00C2A8"/>
                </a:solidFill>
                <a:latin typeface="Calibri" pitchFamily="34" charset="0"/>
                <a:ea typeface="Calibri" pitchFamily="34" charset="-122"/>
                <a:cs typeface="Calibri" pitchFamily="34" charset="-120"/>
              </a:rPr>
              <a:t>Tokenizer</a:t>
            </a:r>
            <a:endParaRPr lang="en-US" sz="1150" dirty="0"/>
          </a:p>
        </p:txBody>
      </p:sp>
      <p:sp>
        <p:nvSpPr>
          <p:cNvPr id="38" name="ItemDesc 1"/>
          <p:cNvSpPr/>
          <p:nvPr/>
        </p:nvSpPr>
        <p:spPr>
          <a:xfrm>
            <a:off x="5120640" y="3060192"/>
            <a:ext cx="6248400" cy="289560"/>
          </a:xfrm>
          <a:prstGeom prst="rect">
            <a:avLst/>
          </a:prstGeom>
          <a:noFill/>
          <a:ln/>
        </p:spPr>
        <p:txBody>
          <a:bodyPr wrap="square" rtlCol="0" anchor="t"/>
          <a:lstStyle/>
          <a:p>
            <a:pPr marL="0" indent="0">
              <a:buNone/>
            </a:pPr>
            <a:r>
              <a:rPr lang="en-US" sz="1000" dirty="0">
                <a:solidFill>
                  <a:srgbClr val="D6E4EC"/>
                </a:solidFill>
                <a:latin typeface="Calibri" pitchFamily="34" charset="0"/>
                <a:ea typeface="Calibri" pitchFamily="34" charset="-122"/>
                <a:cs typeface="Calibri" pitchFamily="34" charset="-120"/>
              </a:rPr>
              <a:t>DistilBERT WordPiece tokenizer, max 64 tokens, no manual feature extraction</a:t>
            </a:r>
            <a:endParaRPr lang="en-US" sz="1000" dirty="0"/>
          </a:p>
        </p:txBody>
      </p:sp>
      <p:sp>
        <p:nvSpPr>
          <p:cNvPr id="39" name="ItemLabel 2"/>
          <p:cNvSpPr/>
          <p:nvPr/>
        </p:nvSpPr>
        <p:spPr>
          <a:xfrm>
            <a:off x="5120640" y="3377184"/>
            <a:ext cx="6248400" cy="274320"/>
          </a:xfrm>
          <a:prstGeom prst="rect">
            <a:avLst/>
          </a:prstGeom>
          <a:noFill/>
          <a:ln/>
        </p:spPr>
        <p:txBody>
          <a:bodyPr wrap="square" rtlCol="0" anchor="ctr"/>
          <a:lstStyle/>
          <a:p>
            <a:pPr marL="0" indent="0">
              <a:buNone/>
            </a:pPr>
            <a:r>
              <a:rPr lang="en-US" sz="1150" b="1" dirty="0">
                <a:solidFill>
                  <a:srgbClr val="00C2A8"/>
                </a:solidFill>
                <a:latin typeface="Calibri" pitchFamily="34" charset="0"/>
                <a:ea typeface="Calibri" pitchFamily="34" charset="-122"/>
                <a:cs typeface="Calibri" pitchFamily="34" charset="-120"/>
              </a:rPr>
              <a:t>DistilBERT Encoder</a:t>
            </a:r>
            <a:endParaRPr lang="en-US" sz="1150" dirty="0"/>
          </a:p>
        </p:txBody>
      </p:sp>
      <p:sp>
        <p:nvSpPr>
          <p:cNvPr id="40" name="ItemDesc 2"/>
          <p:cNvSpPr/>
          <p:nvPr/>
        </p:nvSpPr>
        <p:spPr>
          <a:xfrm>
            <a:off x="5120640" y="3651504"/>
            <a:ext cx="6248400" cy="289560"/>
          </a:xfrm>
          <a:prstGeom prst="rect">
            <a:avLst/>
          </a:prstGeom>
          <a:noFill/>
          <a:ln/>
        </p:spPr>
        <p:txBody>
          <a:bodyPr wrap="square" rtlCol="0" anchor="t"/>
          <a:lstStyle/>
          <a:p>
            <a:pPr marL="0" indent="0">
              <a:buNone/>
            </a:pPr>
            <a:r>
              <a:rPr lang="en-US" sz="1000" dirty="0">
                <a:solidFill>
                  <a:srgbClr val="D6E4EC"/>
                </a:solidFill>
                <a:latin typeface="Calibri" pitchFamily="34" charset="0"/>
                <a:ea typeface="Calibri" pitchFamily="34" charset="-122"/>
                <a:cs typeface="Calibri" pitchFamily="34" charset="-120"/>
              </a:rPr>
              <a:t>6 transformer layers, ~66M parameters — about 40% smaller than BERT-base</a:t>
            </a:r>
            <a:endParaRPr lang="en-US" sz="1000" dirty="0"/>
          </a:p>
        </p:txBody>
      </p:sp>
      <p:sp>
        <p:nvSpPr>
          <p:cNvPr id="41" name="ItemLabel 3"/>
          <p:cNvSpPr/>
          <p:nvPr/>
        </p:nvSpPr>
        <p:spPr>
          <a:xfrm>
            <a:off x="5120640" y="3968496"/>
            <a:ext cx="6248400" cy="274320"/>
          </a:xfrm>
          <a:prstGeom prst="rect">
            <a:avLst/>
          </a:prstGeom>
          <a:noFill/>
          <a:ln/>
        </p:spPr>
        <p:txBody>
          <a:bodyPr wrap="square" rtlCol="0" anchor="ctr"/>
          <a:lstStyle/>
          <a:p>
            <a:pPr marL="0" indent="0">
              <a:buNone/>
            </a:pPr>
            <a:r>
              <a:rPr lang="en-US" sz="1150" b="1" dirty="0">
                <a:solidFill>
                  <a:srgbClr val="00C2A8"/>
                </a:solidFill>
                <a:latin typeface="Calibri" pitchFamily="34" charset="0"/>
                <a:ea typeface="Calibri" pitchFamily="34" charset="-122"/>
                <a:cs typeface="Calibri" pitchFamily="34" charset="-120"/>
              </a:rPr>
              <a:t>Dense Layer</a:t>
            </a:r>
            <a:endParaRPr lang="en-US" sz="1150" dirty="0"/>
          </a:p>
        </p:txBody>
      </p:sp>
      <p:sp>
        <p:nvSpPr>
          <p:cNvPr id="42" name="ItemDesc 3"/>
          <p:cNvSpPr/>
          <p:nvPr/>
        </p:nvSpPr>
        <p:spPr>
          <a:xfrm>
            <a:off x="5120640" y="4242816"/>
            <a:ext cx="6248400" cy="289560"/>
          </a:xfrm>
          <a:prstGeom prst="rect">
            <a:avLst/>
          </a:prstGeom>
          <a:noFill/>
          <a:ln/>
        </p:spPr>
        <p:txBody>
          <a:bodyPr wrap="square" rtlCol="0" anchor="t"/>
          <a:lstStyle/>
          <a:p>
            <a:pPr marL="0" indent="0">
              <a:buNone/>
            </a:pPr>
            <a:r>
              <a:rPr lang="en-US" sz="1000" dirty="0">
                <a:solidFill>
                  <a:srgbClr val="D6E4EC"/>
                </a:solidFill>
                <a:latin typeface="Calibri" pitchFamily="34" charset="0"/>
                <a:ea typeface="Calibri" pitchFamily="34" charset="-122"/>
                <a:cs typeface="Calibri" pitchFamily="34" charset="-120"/>
              </a:rPr>
              <a:t>Linear projection from the encoder's hidden size down to 4 output classes</a:t>
            </a:r>
            <a:endParaRPr lang="en-US" sz="1000" dirty="0"/>
          </a:p>
        </p:txBody>
      </p:sp>
      <p:sp>
        <p:nvSpPr>
          <p:cNvPr id="43" name="ItemLabel 4"/>
          <p:cNvSpPr/>
          <p:nvPr/>
        </p:nvSpPr>
        <p:spPr>
          <a:xfrm>
            <a:off x="5120640" y="4559808"/>
            <a:ext cx="6248400" cy="274320"/>
          </a:xfrm>
          <a:prstGeom prst="rect">
            <a:avLst/>
          </a:prstGeom>
          <a:noFill/>
          <a:ln/>
        </p:spPr>
        <p:txBody>
          <a:bodyPr wrap="square" rtlCol="0" anchor="ctr"/>
          <a:lstStyle/>
          <a:p>
            <a:pPr marL="0" indent="0">
              <a:buNone/>
            </a:pPr>
            <a:r>
              <a:rPr lang="en-US" sz="1150" b="1" dirty="0">
                <a:solidFill>
                  <a:srgbClr val="00C2A8"/>
                </a:solidFill>
                <a:latin typeface="Calibri" pitchFamily="34" charset="0"/>
                <a:ea typeface="Calibri" pitchFamily="34" charset="-122"/>
                <a:cs typeface="Calibri" pitchFamily="34" charset="-120"/>
              </a:rPr>
              <a:t>Softmax</a:t>
            </a:r>
            <a:endParaRPr lang="en-US" sz="1150" dirty="0"/>
          </a:p>
        </p:txBody>
      </p:sp>
      <p:sp>
        <p:nvSpPr>
          <p:cNvPr id="44" name="ItemDesc 4"/>
          <p:cNvSpPr/>
          <p:nvPr/>
        </p:nvSpPr>
        <p:spPr>
          <a:xfrm>
            <a:off x="5120640" y="4834128"/>
            <a:ext cx="6248400" cy="289560"/>
          </a:xfrm>
          <a:prstGeom prst="rect">
            <a:avLst/>
          </a:prstGeom>
          <a:noFill/>
          <a:ln/>
        </p:spPr>
        <p:txBody>
          <a:bodyPr wrap="square" rtlCol="0" anchor="t"/>
          <a:lstStyle/>
          <a:p>
            <a:pPr marL="0" indent="0">
              <a:buNone/>
            </a:pPr>
            <a:r>
              <a:rPr lang="en-US" sz="1000" dirty="0">
                <a:solidFill>
                  <a:srgbClr val="D6E4EC"/>
                </a:solidFill>
                <a:latin typeface="Calibri" pitchFamily="34" charset="0"/>
                <a:ea typeface="Calibri" pitchFamily="34" charset="-122"/>
                <a:cs typeface="Calibri" pitchFamily="34" charset="-120"/>
              </a:rPr>
              <a:t>Converts the raw logits into a 4-way probability distribution</a:t>
            </a:r>
            <a:endParaRPr lang="en-US" sz="1000" dirty="0"/>
          </a:p>
        </p:txBody>
      </p:sp>
      <p:sp>
        <p:nvSpPr>
          <p:cNvPr id="45" name="ItemLabel 5"/>
          <p:cNvSpPr/>
          <p:nvPr/>
        </p:nvSpPr>
        <p:spPr>
          <a:xfrm>
            <a:off x="5120640" y="5151120"/>
            <a:ext cx="6248400" cy="274320"/>
          </a:xfrm>
          <a:prstGeom prst="rect">
            <a:avLst/>
          </a:prstGeom>
          <a:noFill/>
          <a:ln/>
        </p:spPr>
        <p:txBody>
          <a:bodyPr wrap="square" rtlCol="0" anchor="ctr"/>
          <a:lstStyle/>
          <a:p>
            <a:pPr marL="0" indent="0">
              <a:buNone/>
            </a:pPr>
            <a:r>
              <a:rPr lang="en-US" sz="1150" b="1" dirty="0">
                <a:solidFill>
                  <a:srgbClr val="00C2A8"/>
                </a:solidFill>
                <a:latin typeface="Calibri" pitchFamily="34" charset="0"/>
                <a:ea typeface="Calibri" pitchFamily="34" charset="-122"/>
                <a:cs typeface="Calibri" pitchFamily="34" charset="-120"/>
              </a:rPr>
              <a:t>Class Prediction</a:t>
            </a:r>
            <a:endParaRPr lang="en-US" sz="1150" dirty="0"/>
          </a:p>
        </p:txBody>
      </p:sp>
      <p:sp>
        <p:nvSpPr>
          <p:cNvPr id="46" name="ItemDesc 5"/>
          <p:cNvSpPr/>
          <p:nvPr/>
        </p:nvSpPr>
        <p:spPr>
          <a:xfrm>
            <a:off x="5120640" y="5425440"/>
            <a:ext cx="6248400" cy="289560"/>
          </a:xfrm>
          <a:prstGeom prst="rect">
            <a:avLst/>
          </a:prstGeom>
          <a:noFill/>
          <a:ln/>
        </p:spPr>
        <p:txBody>
          <a:bodyPr wrap="square" rtlCol="0" anchor="t"/>
          <a:lstStyle/>
          <a:p>
            <a:pPr marL="0" indent="0">
              <a:buNone/>
            </a:pPr>
            <a:r>
              <a:rPr lang="en-US" sz="1000" dirty="0">
                <a:solidFill>
                  <a:srgbClr val="D6E4EC"/>
                </a:solidFill>
                <a:latin typeface="Calibri" pitchFamily="34" charset="0"/>
                <a:ea typeface="Calibri" pitchFamily="34" charset="-122"/>
                <a:cs typeface="Calibri" pitchFamily="34" charset="-120"/>
              </a:rPr>
              <a:t>Argmax + confidence score; below 0.60 the URL is flagged “uncertain”</a:t>
            </a:r>
            <a:endParaRPr lang="en-US" sz="1000" dirty="0"/>
          </a:p>
        </p:txBody>
      </p:sp>
      <p:sp>
        <p:nvSpPr>
          <p:cNvPr id="34" name="Panel Title"/>
          <p:cNvSpPr/>
          <p:nvPr/>
        </p:nvSpPr>
        <p:spPr>
          <a:xfrm>
            <a:off x="5120640" y="1737360"/>
            <a:ext cx="624840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Layer-by-Layer Specs</a:t>
            </a:r>
            <a:endParaRPr lang="en-US" sz="1450" dirty="0"/>
          </a:p>
        </p:txBody>
      </p:sp>
      <p:sp>
        <p:nvSpPr>
          <p:cNvPr id="47" name="Text Page"/>
          <p:cNvSpPr/>
          <p:nvPr/>
        </p:nvSpPr>
        <p:spPr>
          <a:xfrm>
            <a:off x="11475720" y="6446520"/>
            <a:ext cx="54864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MODEL CHOICE</a:t>
            </a:r>
            <a:endParaRPr lang="en-US" sz="1200" dirty="0"/>
          </a:p>
        </p:txBody>
      </p:sp>
      <p:sp>
        <p:nvSpPr>
          <p:cNvPr id="3" name="Text 1"/>
          <p:cNvSpPr/>
          <p:nvPr/>
        </p:nvSpPr>
        <p:spPr>
          <a:xfrm>
            <a:off x="548640" y="731520"/>
            <a:ext cx="9601200" cy="73152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Why DistilBERT Over Full BERT?</a:t>
            </a:r>
            <a:endParaRPr lang="en-US" sz="3000" dirty="0"/>
          </a:p>
        </p:txBody>
      </p:sp>
      <p:sp>
        <p:nvSpPr>
          <p:cNvPr id="4" name="Text 2"/>
          <p:cNvSpPr/>
          <p:nvPr/>
        </p:nvSpPr>
        <p:spPr>
          <a:xfrm>
            <a:off x="548640" y="1554480"/>
            <a:ext cx="10881360" cy="548640"/>
          </a:xfrm>
          <a:prstGeom prst="rect">
            <a:avLst/>
          </a:prstGeom>
          <a:noFill/>
          <a:ln/>
        </p:spPr>
        <p:txBody>
          <a:bodyPr wrap="square" rtlCol="0" anchor="ctr"/>
          <a:lstStyle/>
          <a:p>
            <a:pPr marL="0" indent="0">
              <a:buNone/>
            </a:pPr>
            <a:r>
              <a:rPr lang="en-US" sz="1400" dirty="0">
                <a:solidFill>
                  <a:srgbClr val="5B6B7A"/>
                </a:solidFill>
                <a:latin typeface="Calibri" pitchFamily="34" charset="0"/>
                <a:ea typeface="Calibri" pitchFamily="34" charset="-122"/>
                <a:cs typeface="Calibri" pitchFamily="34" charset="-120"/>
              </a:rPr>
              <a:t>URLs are short sequences — a lighter encoder trades a small amount of capacity for large gains in speed, without giving up accuracy.</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3200400"/>
        </p:xfrm>
        <a:graphic>
          <a:graphicData uri="http://schemas.openxmlformats.org/drawingml/2006/table">
            <a:tbl>
              <a:tblPr/>
              <a:tblGrid>
                <a:gridCol w="41148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533400">
                <a:tc>
                  <a:txBody>
                    <a:bodyPr/>
                    <a:lstStyle/>
                    <a:p>
                      <a:pPr marL="0" indent="0" algn="l">
                        <a:buNone/>
                      </a:pP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21295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BERT-base</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21295C"/>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DistilBERT</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533400">
                <a:tc>
                  <a:txBody>
                    <a:bodyPr/>
                    <a:lstStyle/>
                    <a:p>
                      <a:pPr marL="0" indent="0" algn="l">
                        <a:buNone/>
                      </a:pPr>
                      <a:r>
                        <a:rPr lang="en-US" sz="1300" b="1" dirty="0">
                          <a:solidFill>
                            <a:srgbClr val="21295C"/>
                          </a:solidFill>
                          <a:latin typeface="Calibri" pitchFamily="34" charset="0"/>
                          <a:ea typeface="Calibri" pitchFamily="34" charset="-122"/>
                          <a:cs typeface="Calibri" pitchFamily="34" charset="-120"/>
                        </a:rPr>
                        <a:t>Parameters</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1295C"/>
                          </a:solidFill>
                          <a:latin typeface="Calibri" pitchFamily="34" charset="0"/>
                          <a:ea typeface="Calibri" pitchFamily="34" charset="-122"/>
                          <a:cs typeface="Calibri" pitchFamily="34" charset="-120"/>
                        </a:rPr>
                        <a:t>~110M</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1295C"/>
                          </a:solidFill>
                          <a:latin typeface="Calibri" pitchFamily="34" charset="0"/>
                          <a:ea typeface="Calibri" pitchFamily="34" charset="-122"/>
                          <a:cs typeface="Calibri" pitchFamily="34" charset="-120"/>
                        </a:rPr>
                        <a:t>~66M (↓ 40%)</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3400">
                <a:tc>
                  <a:txBody>
                    <a:bodyPr/>
                    <a:lstStyle/>
                    <a:p>
                      <a:pPr marL="0" indent="0" algn="l">
                        <a:buNone/>
                      </a:pPr>
                      <a:r>
                        <a:rPr lang="en-US" sz="1300" b="1" dirty="0">
                          <a:solidFill>
                            <a:srgbClr val="21295C"/>
                          </a:solidFill>
                          <a:latin typeface="Calibri" pitchFamily="34" charset="0"/>
                          <a:ea typeface="Calibri" pitchFamily="34" charset="-122"/>
                          <a:cs typeface="Calibri" pitchFamily="34" charset="-120"/>
                        </a:rPr>
                        <a:t>Transformer layers</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FF4F8"/>
                    </a:solidFill>
                  </a:tcPr>
                </a:tc>
                <a:tc>
                  <a:txBody>
                    <a:bodyPr/>
                    <a:lstStyle/>
                    <a:p>
                      <a:pPr marL="0" indent="0" algn="ctr">
                        <a:buNone/>
                      </a:pPr>
                      <a:r>
                        <a:rPr lang="en-US" sz="1300" dirty="0">
                          <a:solidFill>
                            <a:srgbClr val="21295C"/>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FF4F8"/>
                    </a:solidFill>
                  </a:tcPr>
                </a:tc>
                <a:tc>
                  <a:txBody>
                    <a:bodyPr/>
                    <a:lstStyle/>
                    <a:p>
                      <a:pPr marL="0" indent="0" algn="ctr">
                        <a:buNone/>
                      </a:pPr>
                      <a:r>
                        <a:rPr lang="en-US" sz="1300" dirty="0">
                          <a:solidFill>
                            <a:srgbClr val="21295C"/>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FF4F8"/>
                    </a:solidFill>
                  </a:tcPr>
                </a:tc>
                <a:extLst>
                  <a:ext uri="{0D108BD9-81ED-4DB2-BD59-A6C34878D82A}">
                    <a16:rowId xmlns:a16="http://schemas.microsoft.com/office/drawing/2014/main" val="10002"/>
                  </a:ext>
                </a:extLst>
              </a:tr>
              <a:tr h="533400">
                <a:tc>
                  <a:txBody>
                    <a:bodyPr/>
                    <a:lstStyle/>
                    <a:p>
                      <a:pPr marL="0" indent="0" algn="l">
                        <a:buNone/>
                      </a:pPr>
                      <a:r>
                        <a:rPr lang="en-US" sz="1300" b="1" dirty="0">
                          <a:solidFill>
                            <a:srgbClr val="21295C"/>
                          </a:solidFill>
                          <a:latin typeface="Calibri" pitchFamily="34" charset="0"/>
                          <a:ea typeface="Calibri" pitchFamily="34" charset="-122"/>
                          <a:cs typeface="Calibri" pitchFamily="34" charset="-120"/>
                        </a:rPr>
                        <a:t>Suited to short text (URLs)</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1295C"/>
                          </a:solidFill>
                          <a:latin typeface="Calibri" pitchFamily="34" charset="0"/>
                          <a:ea typeface="Calibri" pitchFamily="34" charset="-122"/>
                          <a:cs typeface="Calibri" pitchFamily="34" charset="-120"/>
                        </a:rPr>
                        <a:t>Adequate</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1295C"/>
                          </a:solidFill>
                          <a:latin typeface="Calibri" pitchFamily="34" charset="0"/>
                          <a:ea typeface="Calibri" pitchFamily="34" charset="-122"/>
                          <a:cs typeface="Calibri" pitchFamily="34" charset="-120"/>
                        </a:rPr>
                        <a:t>Strong</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3400">
                <a:tc>
                  <a:txBody>
                    <a:bodyPr/>
                    <a:lstStyle/>
                    <a:p>
                      <a:pPr marL="0" indent="0" algn="l">
                        <a:buNone/>
                      </a:pPr>
                      <a:r>
                        <a:rPr lang="en-US" sz="1300" b="1" dirty="0">
                          <a:solidFill>
                            <a:srgbClr val="21295C"/>
                          </a:solidFill>
                          <a:latin typeface="Calibri" pitchFamily="34" charset="0"/>
                          <a:ea typeface="Calibri" pitchFamily="34" charset="-122"/>
                          <a:cs typeface="Calibri" pitchFamily="34" charset="-120"/>
                        </a:rPr>
                        <a:t>Inference latency</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FF4F8"/>
                    </a:solidFill>
                  </a:tcPr>
                </a:tc>
                <a:tc>
                  <a:txBody>
                    <a:bodyPr/>
                    <a:lstStyle/>
                    <a:p>
                      <a:pPr marL="0" indent="0" algn="ctr">
                        <a:buNone/>
                      </a:pPr>
                      <a:r>
                        <a:rPr lang="en-US" sz="1300" dirty="0">
                          <a:solidFill>
                            <a:srgbClr val="21295C"/>
                          </a:solidFill>
                          <a:latin typeface="Calibri" pitchFamily="34" charset="0"/>
                          <a:ea typeface="Calibri" pitchFamily="34" charset="-122"/>
                          <a:cs typeface="Calibri" pitchFamily="34" charset="-120"/>
                        </a:rPr>
                        <a:t>Higher</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FF4F8"/>
                    </a:solidFill>
                  </a:tcPr>
                </a:tc>
                <a:tc>
                  <a:txBody>
                    <a:bodyPr/>
                    <a:lstStyle/>
                    <a:p>
                      <a:pPr marL="0" indent="0" algn="ctr">
                        <a:buNone/>
                      </a:pPr>
                      <a:r>
                        <a:rPr lang="en-US" sz="1300" dirty="0">
                          <a:solidFill>
                            <a:srgbClr val="21295C"/>
                          </a:solidFill>
                          <a:latin typeface="Calibri" pitchFamily="34" charset="0"/>
                          <a:ea typeface="Calibri" pitchFamily="34" charset="-122"/>
                          <a:cs typeface="Calibri" pitchFamily="34" charset="-120"/>
                        </a:rPr>
                        <a:t>Lower</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FF4F8"/>
                    </a:solidFill>
                  </a:tcPr>
                </a:tc>
                <a:extLst>
                  <a:ext uri="{0D108BD9-81ED-4DB2-BD59-A6C34878D82A}">
                    <a16:rowId xmlns:a16="http://schemas.microsoft.com/office/drawing/2014/main" val="10004"/>
                  </a:ext>
                </a:extLst>
              </a:tr>
              <a:tr h="533400">
                <a:tc>
                  <a:txBody>
                    <a:bodyPr/>
                    <a:lstStyle/>
                    <a:p>
                      <a:pPr marL="0" indent="0" algn="l">
                        <a:buNone/>
                      </a:pPr>
                      <a:r>
                        <a:rPr lang="en-US" sz="1300" b="1" dirty="0">
                          <a:solidFill>
                            <a:srgbClr val="21295C"/>
                          </a:solidFill>
                          <a:latin typeface="Calibri" pitchFamily="34" charset="0"/>
                          <a:ea typeface="Calibri" pitchFamily="34" charset="-122"/>
                          <a:cs typeface="Calibri" pitchFamily="34" charset="-120"/>
                        </a:rPr>
                        <a:t>Achieved test accuracy</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1295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21295C"/>
                          </a:solidFill>
                          <a:latin typeface="Calibri" pitchFamily="34" charset="0"/>
                          <a:ea typeface="Calibri" pitchFamily="34" charset="-122"/>
                          <a:cs typeface="Calibri" pitchFamily="34" charset="-120"/>
                        </a:rPr>
                        <a:t>98.89%</a:t>
                      </a:r>
                      <a:endParaRPr lang="en-US" sz="13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11475720" y="6446520"/>
            <a:ext cx="54864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TRAINING</a:t>
            </a:r>
            <a:endParaRPr lang="en-US" sz="1200" dirty="0"/>
          </a:p>
        </p:txBody>
      </p:sp>
      <p:sp>
        <p:nvSpPr>
          <p:cNvPr id="3" name="Text 1"/>
          <p:cNvSpPr/>
          <p:nvPr/>
        </p:nvSpPr>
        <p:spPr>
          <a:xfrm>
            <a:off x="548640" y="731520"/>
            <a:ext cx="9601200" cy="73152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Fine-Tuning Configuration</a:t>
            </a:r>
            <a:endParaRPr lang="en-US" sz="3000" dirty="0"/>
          </a:p>
        </p:txBody>
      </p:sp>
      <p:sp>
        <p:nvSpPr>
          <p:cNvPr id="4" name="Shape 2"/>
          <p:cNvSpPr/>
          <p:nvPr/>
        </p:nvSpPr>
        <p:spPr>
          <a:xfrm>
            <a:off x="548640" y="1828800"/>
            <a:ext cx="5212080" cy="868680"/>
          </a:xfrm>
          <a:prstGeom prst="roundRect">
            <a:avLst>
              <a:gd name="adj" fmla="val 6316"/>
            </a:avLst>
          </a:prstGeom>
          <a:solidFill>
            <a:srgbClr val="FFFFFF"/>
          </a:solidFill>
          <a:ln w="12700">
            <a:solidFill>
              <a:srgbClr val="E1E8ED"/>
            </a:solidFill>
            <a:prstDash val="solid"/>
          </a:ln>
        </p:spPr>
      </p:sp>
      <p:sp>
        <p:nvSpPr>
          <p:cNvPr id="5" name="Shape 3"/>
          <p:cNvSpPr/>
          <p:nvPr/>
        </p:nvSpPr>
        <p:spPr>
          <a:xfrm>
            <a:off x="548640" y="1828800"/>
            <a:ext cx="109728" cy="868680"/>
          </a:xfrm>
          <a:prstGeom prst="roundRect">
            <a:avLst/>
          </a:prstGeom>
          <a:solidFill>
            <a:srgbClr val="1C7293"/>
          </a:solidFill>
          <a:ln/>
        </p:spPr>
      </p:sp>
      <p:sp>
        <p:nvSpPr>
          <p:cNvPr id="6" name="Text 4"/>
          <p:cNvSpPr/>
          <p:nvPr/>
        </p:nvSpPr>
        <p:spPr>
          <a:xfrm>
            <a:off x="868680" y="1920240"/>
            <a:ext cx="2926080" cy="320040"/>
          </a:xfrm>
          <a:prstGeom prst="rect">
            <a:avLst/>
          </a:prstGeom>
          <a:noFill/>
          <a:ln/>
        </p:spPr>
        <p:txBody>
          <a:bodyPr wrap="square" rtlCol="0" anchor="ctr"/>
          <a:lstStyle/>
          <a:p>
            <a:pPr marL="0" indent="0">
              <a:buNone/>
            </a:pPr>
            <a:r>
              <a:rPr lang="en-US" sz="1300" dirty="0">
                <a:solidFill>
                  <a:srgbClr val="5B6B7A"/>
                </a:solidFill>
                <a:latin typeface="Calibri" pitchFamily="34" charset="0"/>
                <a:ea typeface="Calibri" pitchFamily="34" charset="-122"/>
                <a:cs typeface="Calibri" pitchFamily="34" charset="-120"/>
              </a:rPr>
              <a:t>Epochs</a:t>
            </a:r>
            <a:endParaRPr lang="en-US" sz="1300" dirty="0"/>
          </a:p>
        </p:txBody>
      </p:sp>
      <p:sp>
        <p:nvSpPr>
          <p:cNvPr id="7" name="Text 5"/>
          <p:cNvSpPr/>
          <p:nvPr/>
        </p:nvSpPr>
        <p:spPr>
          <a:xfrm>
            <a:off x="868680" y="2212848"/>
            <a:ext cx="4663440" cy="411480"/>
          </a:xfrm>
          <a:prstGeom prst="rect">
            <a:avLst/>
          </a:prstGeom>
          <a:noFill/>
          <a:ln/>
        </p:spPr>
        <p:txBody>
          <a:bodyPr wrap="square"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3</a:t>
            </a:r>
            <a:endParaRPr lang="en-US" sz="1800" dirty="0"/>
          </a:p>
        </p:txBody>
      </p:sp>
      <p:sp>
        <p:nvSpPr>
          <p:cNvPr id="8" name="Shape 6"/>
          <p:cNvSpPr/>
          <p:nvPr/>
        </p:nvSpPr>
        <p:spPr>
          <a:xfrm>
            <a:off x="6126480" y="1828800"/>
            <a:ext cx="5212080" cy="868680"/>
          </a:xfrm>
          <a:prstGeom prst="roundRect">
            <a:avLst>
              <a:gd name="adj" fmla="val 6316"/>
            </a:avLst>
          </a:prstGeom>
          <a:solidFill>
            <a:srgbClr val="FFFFFF"/>
          </a:solidFill>
          <a:ln w="12700">
            <a:solidFill>
              <a:srgbClr val="E1E8ED"/>
            </a:solidFill>
            <a:prstDash val="solid"/>
          </a:ln>
        </p:spPr>
      </p:sp>
      <p:sp>
        <p:nvSpPr>
          <p:cNvPr id="9" name="Shape 7"/>
          <p:cNvSpPr/>
          <p:nvPr/>
        </p:nvSpPr>
        <p:spPr>
          <a:xfrm>
            <a:off x="6126480" y="1828800"/>
            <a:ext cx="109728" cy="868680"/>
          </a:xfrm>
          <a:prstGeom prst="roundRect">
            <a:avLst/>
          </a:prstGeom>
          <a:solidFill>
            <a:srgbClr val="1C7293"/>
          </a:solidFill>
          <a:ln/>
        </p:spPr>
      </p:sp>
      <p:sp>
        <p:nvSpPr>
          <p:cNvPr id="10" name="Text 8"/>
          <p:cNvSpPr/>
          <p:nvPr/>
        </p:nvSpPr>
        <p:spPr>
          <a:xfrm>
            <a:off x="6446520" y="1920240"/>
            <a:ext cx="2926080" cy="320040"/>
          </a:xfrm>
          <a:prstGeom prst="rect">
            <a:avLst/>
          </a:prstGeom>
          <a:noFill/>
          <a:ln/>
        </p:spPr>
        <p:txBody>
          <a:bodyPr wrap="square" rtlCol="0" anchor="ctr"/>
          <a:lstStyle/>
          <a:p>
            <a:pPr marL="0" indent="0">
              <a:buNone/>
            </a:pPr>
            <a:r>
              <a:rPr lang="en-US" sz="1300" dirty="0">
                <a:solidFill>
                  <a:srgbClr val="5B6B7A"/>
                </a:solidFill>
                <a:latin typeface="Calibri" pitchFamily="34" charset="0"/>
                <a:ea typeface="Calibri" pitchFamily="34" charset="-122"/>
                <a:cs typeface="Calibri" pitchFamily="34" charset="-120"/>
              </a:rPr>
              <a:t>Optimizer</a:t>
            </a:r>
            <a:endParaRPr lang="en-US" sz="1300" dirty="0"/>
          </a:p>
        </p:txBody>
      </p:sp>
      <p:sp>
        <p:nvSpPr>
          <p:cNvPr id="11" name="Text 9"/>
          <p:cNvSpPr/>
          <p:nvPr/>
        </p:nvSpPr>
        <p:spPr>
          <a:xfrm>
            <a:off x="6446520" y="2212848"/>
            <a:ext cx="4663440" cy="411480"/>
          </a:xfrm>
          <a:prstGeom prst="rect">
            <a:avLst/>
          </a:prstGeom>
          <a:noFill/>
          <a:ln/>
        </p:spPr>
        <p:txBody>
          <a:bodyPr wrap="square"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AdamW</a:t>
            </a:r>
            <a:endParaRPr lang="en-US" sz="1800" dirty="0"/>
          </a:p>
        </p:txBody>
      </p:sp>
      <p:sp>
        <p:nvSpPr>
          <p:cNvPr id="12" name="Shape 10"/>
          <p:cNvSpPr/>
          <p:nvPr/>
        </p:nvSpPr>
        <p:spPr>
          <a:xfrm>
            <a:off x="548640" y="2926080"/>
            <a:ext cx="5212080" cy="868680"/>
          </a:xfrm>
          <a:prstGeom prst="roundRect">
            <a:avLst>
              <a:gd name="adj" fmla="val 6316"/>
            </a:avLst>
          </a:prstGeom>
          <a:solidFill>
            <a:srgbClr val="FFFFFF"/>
          </a:solidFill>
          <a:ln w="12700">
            <a:solidFill>
              <a:srgbClr val="E1E8ED"/>
            </a:solidFill>
            <a:prstDash val="solid"/>
          </a:ln>
        </p:spPr>
      </p:sp>
      <p:sp>
        <p:nvSpPr>
          <p:cNvPr id="13" name="Shape 11"/>
          <p:cNvSpPr/>
          <p:nvPr/>
        </p:nvSpPr>
        <p:spPr>
          <a:xfrm>
            <a:off x="548640" y="2926080"/>
            <a:ext cx="109728" cy="868680"/>
          </a:xfrm>
          <a:prstGeom prst="roundRect">
            <a:avLst/>
          </a:prstGeom>
          <a:solidFill>
            <a:srgbClr val="1C7293"/>
          </a:solidFill>
          <a:ln/>
        </p:spPr>
      </p:sp>
      <p:sp>
        <p:nvSpPr>
          <p:cNvPr id="14" name="Text 12"/>
          <p:cNvSpPr/>
          <p:nvPr/>
        </p:nvSpPr>
        <p:spPr>
          <a:xfrm>
            <a:off x="868680" y="3017520"/>
            <a:ext cx="2926080" cy="320040"/>
          </a:xfrm>
          <a:prstGeom prst="rect">
            <a:avLst/>
          </a:prstGeom>
          <a:noFill/>
          <a:ln/>
        </p:spPr>
        <p:txBody>
          <a:bodyPr wrap="square" rtlCol="0" anchor="ctr"/>
          <a:lstStyle/>
          <a:p>
            <a:pPr marL="0" indent="0">
              <a:buNone/>
            </a:pPr>
            <a:r>
              <a:rPr lang="en-US" sz="1300" dirty="0">
                <a:solidFill>
                  <a:srgbClr val="5B6B7A"/>
                </a:solidFill>
                <a:latin typeface="Calibri" pitchFamily="34" charset="0"/>
                <a:ea typeface="Calibri" pitchFamily="34" charset="-122"/>
                <a:cs typeface="Calibri" pitchFamily="34" charset="-120"/>
              </a:rPr>
              <a:t>Learning rate</a:t>
            </a:r>
            <a:endParaRPr lang="en-US" sz="1300" dirty="0"/>
          </a:p>
        </p:txBody>
      </p:sp>
      <p:sp>
        <p:nvSpPr>
          <p:cNvPr id="15" name="Text 13"/>
          <p:cNvSpPr/>
          <p:nvPr/>
        </p:nvSpPr>
        <p:spPr>
          <a:xfrm>
            <a:off x="868680" y="3310128"/>
            <a:ext cx="4663440" cy="411480"/>
          </a:xfrm>
          <a:prstGeom prst="rect">
            <a:avLst/>
          </a:prstGeom>
          <a:noFill/>
          <a:ln/>
        </p:spPr>
        <p:txBody>
          <a:bodyPr wrap="square"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2e-5</a:t>
            </a:r>
            <a:endParaRPr lang="en-US" sz="1800" dirty="0"/>
          </a:p>
        </p:txBody>
      </p:sp>
      <p:sp>
        <p:nvSpPr>
          <p:cNvPr id="16" name="Shape 14"/>
          <p:cNvSpPr/>
          <p:nvPr/>
        </p:nvSpPr>
        <p:spPr>
          <a:xfrm>
            <a:off x="6126480" y="2926080"/>
            <a:ext cx="5212080" cy="868680"/>
          </a:xfrm>
          <a:prstGeom prst="roundRect">
            <a:avLst>
              <a:gd name="adj" fmla="val 6316"/>
            </a:avLst>
          </a:prstGeom>
          <a:solidFill>
            <a:srgbClr val="FFFFFF"/>
          </a:solidFill>
          <a:ln w="12700">
            <a:solidFill>
              <a:srgbClr val="E1E8ED"/>
            </a:solidFill>
            <a:prstDash val="solid"/>
          </a:ln>
        </p:spPr>
      </p:sp>
      <p:sp>
        <p:nvSpPr>
          <p:cNvPr id="17" name="Shape 15"/>
          <p:cNvSpPr/>
          <p:nvPr/>
        </p:nvSpPr>
        <p:spPr>
          <a:xfrm>
            <a:off x="6126480" y="2926080"/>
            <a:ext cx="109728" cy="868680"/>
          </a:xfrm>
          <a:prstGeom prst="roundRect">
            <a:avLst/>
          </a:prstGeom>
          <a:solidFill>
            <a:srgbClr val="1C7293"/>
          </a:solidFill>
          <a:ln/>
        </p:spPr>
      </p:sp>
      <p:sp>
        <p:nvSpPr>
          <p:cNvPr id="18" name="Text 16"/>
          <p:cNvSpPr/>
          <p:nvPr/>
        </p:nvSpPr>
        <p:spPr>
          <a:xfrm>
            <a:off x="6446520" y="3017520"/>
            <a:ext cx="2926080" cy="320040"/>
          </a:xfrm>
          <a:prstGeom prst="rect">
            <a:avLst/>
          </a:prstGeom>
          <a:noFill/>
          <a:ln/>
        </p:spPr>
        <p:txBody>
          <a:bodyPr wrap="square" rtlCol="0" anchor="ctr"/>
          <a:lstStyle/>
          <a:p>
            <a:pPr marL="0" indent="0">
              <a:buNone/>
            </a:pPr>
            <a:r>
              <a:rPr lang="en-US" sz="1300" dirty="0">
                <a:solidFill>
                  <a:srgbClr val="5B6B7A"/>
                </a:solidFill>
                <a:latin typeface="Calibri" pitchFamily="34" charset="0"/>
                <a:ea typeface="Calibri" pitchFamily="34" charset="-122"/>
                <a:cs typeface="Calibri" pitchFamily="34" charset="-120"/>
              </a:rPr>
              <a:t>Batch size</a:t>
            </a:r>
            <a:endParaRPr lang="en-US" sz="1300" dirty="0"/>
          </a:p>
        </p:txBody>
      </p:sp>
      <p:sp>
        <p:nvSpPr>
          <p:cNvPr id="19" name="Text 17"/>
          <p:cNvSpPr/>
          <p:nvPr/>
        </p:nvSpPr>
        <p:spPr>
          <a:xfrm>
            <a:off x="6446520" y="3310128"/>
            <a:ext cx="4663440" cy="411480"/>
          </a:xfrm>
          <a:prstGeom prst="rect">
            <a:avLst/>
          </a:prstGeom>
          <a:noFill/>
          <a:ln/>
        </p:spPr>
        <p:txBody>
          <a:bodyPr wrap="square"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16</a:t>
            </a:r>
            <a:endParaRPr lang="en-US" sz="1800" dirty="0"/>
          </a:p>
        </p:txBody>
      </p:sp>
      <p:sp>
        <p:nvSpPr>
          <p:cNvPr id="20" name="Shape 18"/>
          <p:cNvSpPr/>
          <p:nvPr/>
        </p:nvSpPr>
        <p:spPr>
          <a:xfrm>
            <a:off x="548640" y="4023360"/>
            <a:ext cx="5212080" cy="868680"/>
          </a:xfrm>
          <a:prstGeom prst="roundRect">
            <a:avLst>
              <a:gd name="adj" fmla="val 6316"/>
            </a:avLst>
          </a:prstGeom>
          <a:solidFill>
            <a:srgbClr val="FFFFFF"/>
          </a:solidFill>
          <a:ln w="12700">
            <a:solidFill>
              <a:srgbClr val="E1E8ED"/>
            </a:solidFill>
            <a:prstDash val="solid"/>
          </a:ln>
        </p:spPr>
      </p:sp>
      <p:sp>
        <p:nvSpPr>
          <p:cNvPr id="21" name="Shape 19"/>
          <p:cNvSpPr/>
          <p:nvPr/>
        </p:nvSpPr>
        <p:spPr>
          <a:xfrm>
            <a:off x="548640" y="4023360"/>
            <a:ext cx="109728" cy="868680"/>
          </a:xfrm>
          <a:prstGeom prst="roundRect">
            <a:avLst/>
          </a:prstGeom>
          <a:solidFill>
            <a:srgbClr val="1C7293"/>
          </a:solidFill>
          <a:ln/>
        </p:spPr>
      </p:sp>
      <p:sp>
        <p:nvSpPr>
          <p:cNvPr id="22" name="Text 20"/>
          <p:cNvSpPr/>
          <p:nvPr/>
        </p:nvSpPr>
        <p:spPr>
          <a:xfrm>
            <a:off x="868680" y="4114800"/>
            <a:ext cx="2926080" cy="320040"/>
          </a:xfrm>
          <a:prstGeom prst="rect">
            <a:avLst/>
          </a:prstGeom>
          <a:noFill/>
          <a:ln/>
        </p:spPr>
        <p:txBody>
          <a:bodyPr wrap="square" rtlCol="0" anchor="ctr"/>
          <a:lstStyle/>
          <a:p>
            <a:pPr marL="0" indent="0">
              <a:buNone/>
            </a:pPr>
            <a:r>
              <a:rPr lang="en-US" sz="1300" dirty="0">
                <a:solidFill>
                  <a:srgbClr val="5B6B7A"/>
                </a:solidFill>
                <a:latin typeface="Calibri" pitchFamily="34" charset="0"/>
                <a:ea typeface="Calibri" pitchFamily="34" charset="-122"/>
                <a:cs typeface="Calibri" pitchFamily="34" charset="-120"/>
              </a:rPr>
              <a:t>Weight decay</a:t>
            </a:r>
            <a:endParaRPr lang="en-US" sz="1300" dirty="0"/>
          </a:p>
        </p:txBody>
      </p:sp>
      <p:sp>
        <p:nvSpPr>
          <p:cNvPr id="23" name="Text 21"/>
          <p:cNvSpPr/>
          <p:nvPr/>
        </p:nvSpPr>
        <p:spPr>
          <a:xfrm>
            <a:off x="868680" y="4407408"/>
            <a:ext cx="4663440" cy="411480"/>
          </a:xfrm>
          <a:prstGeom prst="rect">
            <a:avLst/>
          </a:prstGeom>
          <a:noFill/>
          <a:ln/>
        </p:spPr>
        <p:txBody>
          <a:bodyPr wrap="square"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0.01</a:t>
            </a:r>
            <a:endParaRPr lang="en-US" sz="1800" dirty="0"/>
          </a:p>
        </p:txBody>
      </p:sp>
      <p:sp>
        <p:nvSpPr>
          <p:cNvPr id="24" name="Shape 22"/>
          <p:cNvSpPr/>
          <p:nvPr/>
        </p:nvSpPr>
        <p:spPr>
          <a:xfrm>
            <a:off x="6126480" y="4023360"/>
            <a:ext cx="5212080" cy="868680"/>
          </a:xfrm>
          <a:prstGeom prst="roundRect">
            <a:avLst>
              <a:gd name="adj" fmla="val 6316"/>
            </a:avLst>
          </a:prstGeom>
          <a:solidFill>
            <a:srgbClr val="FFFFFF"/>
          </a:solidFill>
          <a:ln w="12700">
            <a:solidFill>
              <a:srgbClr val="E1E8ED"/>
            </a:solidFill>
            <a:prstDash val="solid"/>
          </a:ln>
        </p:spPr>
      </p:sp>
      <p:sp>
        <p:nvSpPr>
          <p:cNvPr id="25" name="Shape 23"/>
          <p:cNvSpPr/>
          <p:nvPr/>
        </p:nvSpPr>
        <p:spPr>
          <a:xfrm>
            <a:off x="6126480" y="4023360"/>
            <a:ext cx="109728" cy="868680"/>
          </a:xfrm>
          <a:prstGeom prst="roundRect">
            <a:avLst/>
          </a:prstGeom>
          <a:solidFill>
            <a:srgbClr val="1C7293"/>
          </a:solidFill>
          <a:ln/>
        </p:spPr>
      </p:sp>
      <p:sp>
        <p:nvSpPr>
          <p:cNvPr id="26" name="Text 24"/>
          <p:cNvSpPr/>
          <p:nvPr/>
        </p:nvSpPr>
        <p:spPr>
          <a:xfrm>
            <a:off x="6446520" y="4114800"/>
            <a:ext cx="2926080" cy="320040"/>
          </a:xfrm>
          <a:prstGeom prst="rect">
            <a:avLst/>
          </a:prstGeom>
          <a:noFill/>
          <a:ln/>
        </p:spPr>
        <p:txBody>
          <a:bodyPr wrap="square" rtlCol="0" anchor="ctr"/>
          <a:lstStyle/>
          <a:p>
            <a:pPr marL="0" indent="0">
              <a:buNone/>
            </a:pPr>
            <a:r>
              <a:rPr lang="en-US" sz="1300" dirty="0">
                <a:solidFill>
                  <a:srgbClr val="5B6B7A"/>
                </a:solidFill>
                <a:latin typeface="Calibri" pitchFamily="34" charset="0"/>
                <a:ea typeface="Calibri" pitchFamily="34" charset="-122"/>
                <a:cs typeface="Calibri" pitchFamily="34" charset="-120"/>
              </a:rPr>
              <a:t>Framework</a:t>
            </a:r>
            <a:endParaRPr lang="en-US" sz="1300" dirty="0"/>
          </a:p>
        </p:txBody>
      </p:sp>
      <p:sp>
        <p:nvSpPr>
          <p:cNvPr id="27" name="Text 25"/>
          <p:cNvSpPr/>
          <p:nvPr/>
        </p:nvSpPr>
        <p:spPr>
          <a:xfrm>
            <a:off x="6446520" y="4407408"/>
            <a:ext cx="4663440" cy="411480"/>
          </a:xfrm>
          <a:prstGeom prst="rect">
            <a:avLst/>
          </a:prstGeom>
          <a:noFill/>
          <a:ln/>
        </p:spPr>
        <p:txBody>
          <a:bodyPr wrap="square"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HuggingFace Trainer API</a:t>
            </a:r>
            <a:endParaRPr lang="en-US" sz="1800" dirty="0"/>
          </a:p>
        </p:txBody>
      </p:sp>
      <p:sp>
        <p:nvSpPr>
          <p:cNvPr id="28" name="Text 26"/>
          <p:cNvSpPr/>
          <p:nvPr/>
        </p:nvSpPr>
        <p:spPr>
          <a:xfrm>
            <a:off x="548640" y="5349240"/>
            <a:ext cx="11064240" cy="640080"/>
          </a:xfrm>
          <a:prstGeom prst="rect">
            <a:avLst/>
          </a:prstGeom>
          <a:noFill/>
          <a:ln/>
        </p:spPr>
        <p:txBody>
          <a:bodyPr wrap="square" rtlCol="0" anchor="ctr"/>
          <a:lstStyle/>
          <a:p>
            <a:pPr marL="0" indent="0">
              <a:buNone/>
            </a:pPr>
            <a:r>
              <a:rPr lang="en-US" sz="1250" i="1" dirty="0">
                <a:solidFill>
                  <a:srgbClr val="5B6B7A"/>
                </a:solidFill>
                <a:latin typeface="Calibri" pitchFamily="34" charset="0"/>
                <a:ea typeface="Calibri" pitchFamily="34" charset="-122"/>
                <a:cs typeface="Calibri" pitchFamily="34" charset="-120"/>
              </a:rPr>
              <a:t>Recommended: a CUDA-capable GPU for training (~450K training URLs × 3 epochs) — Google Colab's free T4 works well. Inference runs comfortably on CPU.</a:t>
            </a:r>
            <a:endParaRPr lang="en-US" sz="1250" dirty="0"/>
          </a:p>
        </p:txBody>
      </p:sp>
      <p:sp>
        <p:nvSpPr>
          <p:cNvPr id="29" name="Text 27"/>
          <p:cNvSpPr/>
          <p:nvPr/>
        </p:nvSpPr>
        <p:spPr>
          <a:xfrm>
            <a:off x="11475720" y="6446520"/>
            <a:ext cx="54864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065A82">
              <a:alpha val="30000"/>
            </a:srgbClr>
          </a:solidFill>
          <a:ln/>
        </p:spPr>
      </p:sp>
      <p:sp>
        <p:nvSpPr>
          <p:cNvPr id="3" name="Text 1"/>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00C2A8"/>
                </a:solidFill>
                <a:latin typeface="Calibri" pitchFamily="34" charset="0"/>
                <a:ea typeface="Calibri" pitchFamily="34" charset="-122"/>
                <a:cs typeface="Calibri" pitchFamily="34" charset="-120"/>
              </a:rPr>
              <a:t>RESULTS</a:t>
            </a:r>
            <a:endParaRPr lang="en-US" sz="1200" dirty="0"/>
          </a:p>
        </p:txBody>
      </p:sp>
      <p:sp>
        <p:nvSpPr>
          <p:cNvPr id="4" name="Text 2"/>
          <p:cNvSpPr/>
          <p:nvPr/>
        </p:nvSpPr>
        <p:spPr>
          <a:xfrm>
            <a:off x="548640" y="777240"/>
            <a:ext cx="9601200" cy="7315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Test-Set Performance</a:t>
            </a:r>
            <a:endParaRPr lang="en-US" sz="3000" dirty="0"/>
          </a:p>
        </p:txBody>
      </p:sp>
      <p:sp>
        <p:nvSpPr>
          <p:cNvPr id="5" name="Text 3"/>
          <p:cNvSpPr/>
          <p:nvPr/>
        </p:nvSpPr>
        <p:spPr>
          <a:xfrm>
            <a:off x="548640" y="1737360"/>
            <a:ext cx="5486400" cy="1371600"/>
          </a:xfrm>
          <a:prstGeom prst="rect">
            <a:avLst/>
          </a:prstGeom>
          <a:noFill/>
          <a:ln/>
        </p:spPr>
        <p:txBody>
          <a:bodyPr wrap="square" rtlCol="0" anchor="ctr"/>
          <a:lstStyle/>
          <a:p>
            <a:pPr marL="0" indent="0">
              <a:buNone/>
            </a:pPr>
            <a:r>
              <a:rPr lang="en-US" sz="7200" b="1" dirty="0">
                <a:solidFill>
                  <a:srgbClr val="00C2A8"/>
                </a:solidFill>
                <a:latin typeface="Cambria" pitchFamily="34" charset="0"/>
                <a:ea typeface="Cambria" pitchFamily="34" charset="-122"/>
                <a:cs typeface="Cambria" pitchFamily="34" charset="-120"/>
              </a:rPr>
              <a:t>98.89%</a:t>
            </a:r>
            <a:endParaRPr lang="en-US" sz="7200" dirty="0"/>
          </a:p>
        </p:txBody>
      </p:sp>
      <p:sp>
        <p:nvSpPr>
          <p:cNvPr id="6" name="Text 4"/>
          <p:cNvSpPr/>
          <p:nvPr/>
        </p:nvSpPr>
        <p:spPr>
          <a:xfrm>
            <a:off x="548640" y="2971800"/>
            <a:ext cx="5486400" cy="457200"/>
          </a:xfrm>
          <a:prstGeom prst="rect">
            <a:avLst/>
          </a:prstGeom>
          <a:noFill/>
          <a:ln/>
        </p:spPr>
        <p:txBody>
          <a:bodyPr wrap="square" rtlCol="0" anchor="ctr"/>
          <a:lstStyle/>
          <a:p>
            <a:pPr marL="0" indent="0">
              <a:buNone/>
            </a:pPr>
            <a:r>
              <a:rPr lang="en-US" sz="1500" dirty="0">
                <a:solidFill>
                  <a:srgbClr val="C9D8E3"/>
                </a:solidFill>
                <a:latin typeface="Calibri" pitchFamily="34" charset="0"/>
                <a:ea typeface="Calibri" pitchFamily="34" charset="-122"/>
                <a:cs typeface="Calibri" pitchFamily="34" charset="-120"/>
              </a:rPr>
              <a:t>overall accuracy across ~97,000 held-out URLs</a:t>
            </a:r>
            <a:endParaRPr lang="en-US" sz="1500" dirty="0"/>
          </a:p>
        </p:txBody>
      </p:sp>
      <p:sp>
        <p:nvSpPr>
          <p:cNvPr id="7" name="Text 5"/>
          <p:cNvSpPr/>
          <p:nvPr/>
        </p:nvSpPr>
        <p:spPr>
          <a:xfrm>
            <a:off x="548640" y="3611880"/>
            <a:ext cx="2560320" cy="6858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98.61%</a:t>
            </a:r>
            <a:endParaRPr lang="en-US" sz="2800" dirty="0"/>
          </a:p>
        </p:txBody>
      </p:sp>
      <p:sp>
        <p:nvSpPr>
          <p:cNvPr id="8" name="Text 6"/>
          <p:cNvSpPr/>
          <p:nvPr/>
        </p:nvSpPr>
        <p:spPr>
          <a:xfrm>
            <a:off x="548640" y="4160520"/>
            <a:ext cx="2560320" cy="320040"/>
          </a:xfrm>
          <a:prstGeom prst="rect">
            <a:avLst/>
          </a:prstGeom>
          <a:noFill/>
          <a:ln/>
        </p:spPr>
        <p:txBody>
          <a:bodyPr wrap="square" rtlCol="0" anchor="ctr"/>
          <a:lstStyle/>
          <a:p>
            <a:pPr marL="0" indent="0">
              <a:buNone/>
            </a:pPr>
            <a:r>
              <a:rPr lang="en-US" sz="1150" dirty="0">
                <a:solidFill>
                  <a:srgbClr val="9FB4C4"/>
                </a:solidFill>
                <a:latin typeface="Calibri" pitchFamily="34" charset="0"/>
                <a:ea typeface="Calibri" pitchFamily="34" charset="-122"/>
                <a:cs typeface="Calibri" pitchFamily="34" charset="-120"/>
              </a:rPr>
              <a:t>Macro Precision</a:t>
            </a:r>
            <a:endParaRPr lang="en-US" sz="1150" dirty="0"/>
          </a:p>
        </p:txBody>
      </p:sp>
      <p:sp>
        <p:nvSpPr>
          <p:cNvPr id="9" name="Text 7"/>
          <p:cNvSpPr/>
          <p:nvPr/>
        </p:nvSpPr>
        <p:spPr>
          <a:xfrm>
            <a:off x="3200400" y="3611880"/>
            <a:ext cx="2560320" cy="6858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98.09%</a:t>
            </a:r>
            <a:endParaRPr lang="en-US" sz="2800" dirty="0"/>
          </a:p>
        </p:txBody>
      </p:sp>
      <p:sp>
        <p:nvSpPr>
          <p:cNvPr id="10" name="Text 8"/>
          <p:cNvSpPr/>
          <p:nvPr/>
        </p:nvSpPr>
        <p:spPr>
          <a:xfrm>
            <a:off x="3200400" y="4160520"/>
            <a:ext cx="2560320" cy="320040"/>
          </a:xfrm>
          <a:prstGeom prst="rect">
            <a:avLst/>
          </a:prstGeom>
          <a:noFill/>
          <a:ln/>
        </p:spPr>
        <p:txBody>
          <a:bodyPr wrap="square" rtlCol="0" anchor="ctr"/>
          <a:lstStyle/>
          <a:p>
            <a:pPr marL="0" indent="0">
              <a:buNone/>
            </a:pPr>
            <a:r>
              <a:rPr lang="en-US" sz="1150" dirty="0">
                <a:solidFill>
                  <a:srgbClr val="9FB4C4"/>
                </a:solidFill>
                <a:latin typeface="Calibri" pitchFamily="34" charset="0"/>
                <a:ea typeface="Calibri" pitchFamily="34" charset="-122"/>
                <a:cs typeface="Calibri" pitchFamily="34" charset="-120"/>
              </a:rPr>
              <a:t>Macro Recall</a:t>
            </a:r>
            <a:endParaRPr lang="en-US" sz="1150" dirty="0"/>
          </a:p>
        </p:txBody>
      </p:sp>
      <p:sp>
        <p:nvSpPr>
          <p:cNvPr id="11" name="Text 9"/>
          <p:cNvSpPr/>
          <p:nvPr/>
        </p:nvSpPr>
        <p:spPr>
          <a:xfrm>
            <a:off x="548640" y="4709160"/>
            <a:ext cx="2560320" cy="6858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98.35%</a:t>
            </a:r>
            <a:endParaRPr lang="en-US" sz="2800" dirty="0"/>
          </a:p>
        </p:txBody>
      </p:sp>
      <p:sp>
        <p:nvSpPr>
          <p:cNvPr id="12" name="Text 10"/>
          <p:cNvSpPr/>
          <p:nvPr/>
        </p:nvSpPr>
        <p:spPr>
          <a:xfrm>
            <a:off x="548640" y="5257800"/>
            <a:ext cx="2560320" cy="320040"/>
          </a:xfrm>
          <a:prstGeom prst="rect">
            <a:avLst/>
          </a:prstGeom>
          <a:noFill/>
          <a:ln/>
        </p:spPr>
        <p:txBody>
          <a:bodyPr wrap="square" rtlCol="0" anchor="ctr"/>
          <a:lstStyle/>
          <a:p>
            <a:pPr marL="0" indent="0">
              <a:buNone/>
            </a:pPr>
            <a:r>
              <a:rPr lang="en-US" sz="1150" dirty="0">
                <a:solidFill>
                  <a:srgbClr val="9FB4C4"/>
                </a:solidFill>
                <a:latin typeface="Calibri" pitchFamily="34" charset="0"/>
                <a:ea typeface="Calibri" pitchFamily="34" charset="-122"/>
                <a:cs typeface="Calibri" pitchFamily="34" charset="-120"/>
              </a:rPr>
              <a:t>Macro F1-Score</a:t>
            </a:r>
            <a:endParaRPr lang="en-US" sz="1150" dirty="0"/>
          </a:p>
        </p:txBody>
      </p:sp>
      <p:graphicFrame>
        <p:nvGraphicFramePr>
          <p:cNvPr id="13" name="Chart 0"/>
          <p:cNvGraphicFramePr/>
          <p:nvPr/>
        </p:nvGraphicFramePr>
        <p:xfrm>
          <a:off x="6492240" y="1737360"/>
          <a:ext cx="51206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p:nvPr/>
        </p:nvSpPr>
        <p:spPr>
          <a:xfrm>
            <a:off x="11475720" y="6446520"/>
            <a:ext cx="54864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731520"/>
            <a:ext cx="9601200" cy="73152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Per-Class Metrics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15600" cy="3291840"/>
        </p:xfrm>
        <a:graphic>
          <a:graphicData uri="http://schemas.openxmlformats.org/drawingml/2006/table">
            <a:tbl>
              <a:tblPr/>
              <a:tblGrid>
                <a:gridCol w="3200400">
                  <a:extLst>
                    <a:ext uri="{9D8B030D-6E8A-4147-A177-3AD203B41FA5}">
                      <a16:colId xmlns:a16="http://schemas.microsoft.com/office/drawing/2014/main" val="20000"/>
                    </a:ext>
                  </a:extLst>
                </a:gridCol>
                <a:gridCol w="2441448">
                  <a:extLst>
                    <a:ext uri="{9D8B030D-6E8A-4147-A177-3AD203B41FA5}">
                      <a16:colId xmlns:a16="http://schemas.microsoft.com/office/drawing/2014/main" val="20001"/>
                    </a:ext>
                  </a:extLst>
                </a:gridCol>
                <a:gridCol w="2441448">
                  <a:extLst>
                    <a:ext uri="{9D8B030D-6E8A-4147-A177-3AD203B41FA5}">
                      <a16:colId xmlns:a16="http://schemas.microsoft.com/office/drawing/2014/main" val="20002"/>
                    </a:ext>
                  </a:extLst>
                </a:gridCol>
                <a:gridCol w="2432304">
                  <a:extLst>
                    <a:ext uri="{9D8B030D-6E8A-4147-A177-3AD203B41FA5}">
                      <a16:colId xmlns:a16="http://schemas.microsoft.com/office/drawing/2014/main" val="20003"/>
                    </a:ext>
                  </a:extLst>
                </a:gridCol>
              </a:tblGrid>
              <a:tr h="54864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2129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Precision</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2129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Recall</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21295C"/>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F1-Score</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548640">
                <a:tc>
                  <a:txBody>
                    <a:bodyPr/>
                    <a:lstStyle/>
                    <a:p>
                      <a:pPr marL="0" indent="0" algn="l">
                        <a:buNone/>
                      </a:pPr>
                      <a:r>
                        <a:rPr lang="en-US" sz="1400" dirty="0">
                          <a:solidFill>
                            <a:srgbClr val="21295C"/>
                          </a:solidFill>
                          <a:latin typeface="Calibri" pitchFamily="34" charset="0"/>
                          <a:ea typeface="Calibri" pitchFamily="34" charset="-122"/>
                          <a:cs typeface="Calibri" pitchFamily="34" charset="-120"/>
                        </a:rPr>
                        <a:t>Benign</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1295C"/>
                          </a:solidFill>
                          <a:latin typeface="Calibri" pitchFamily="34" charset="0"/>
                          <a:ea typeface="Calibri" pitchFamily="34" charset="-122"/>
                          <a:cs typeface="Calibri" pitchFamily="34" charset="-120"/>
                        </a:rPr>
                        <a:t>0.9922</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1295C"/>
                          </a:solidFill>
                          <a:latin typeface="Calibri" pitchFamily="34" charset="0"/>
                          <a:ea typeface="Calibri" pitchFamily="34" charset="-122"/>
                          <a:cs typeface="Calibri" pitchFamily="34" charset="-120"/>
                        </a:rPr>
                        <a:t>0.9944</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1295C"/>
                          </a:solidFill>
                          <a:latin typeface="Calibri" pitchFamily="34" charset="0"/>
                          <a:ea typeface="Calibri" pitchFamily="34" charset="-122"/>
                          <a:cs typeface="Calibri" pitchFamily="34" charset="-120"/>
                        </a:rPr>
                        <a:t>0.9933</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400" dirty="0">
                          <a:solidFill>
                            <a:srgbClr val="21295C"/>
                          </a:solidFill>
                          <a:latin typeface="Calibri" pitchFamily="34" charset="0"/>
                          <a:ea typeface="Calibri" pitchFamily="34" charset="-122"/>
                          <a:cs typeface="Calibri" pitchFamily="34" charset="-120"/>
                        </a:rPr>
                        <a:t>Phishing</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FF4F8"/>
                    </a:solidFill>
                  </a:tcPr>
                </a:tc>
                <a:tc>
                  <a:txBody>
                    <a:bodyPr/>
                    <a:lstStyle/>
                    <a:p>
                      <a:pPr marL="0" indent="0" algn="ctr">
                        <a:buNone/>
                      </a:pPr>
                      <a:r>
                        <a:rPr lang="en-US" sz="1400" dirty="0">
                          <a:solidFill>
                            <a:srgbClr val="21295C"/>
                          </a:solidFill>
                          <a:latin typeface="Calibri" pitchFamily="34" charset="0"/>
                          <a:ea typeface="Calibri" pitchFamily="34" charset="-122"/>
                          <a:cs typeface="Calibri" pitchFamily="34" charset="-120"/>
                        </a:rPr>
                        <a:t>0.9641</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FF4F8"/>
                    </a:solidFill>
                  </a:tcPr>
                </a:tc>
                <a:tc>
                  <a:txBody>
                    <a:bodyPr/>
                    <a:lstStyle/>
                    <a:p>
                      <a:pPr marL="0" indent="0" algn="ctr">
                        <a:buNone/>
                      </a:pPr>
                      <a:r>
                        <a:rPr lang="en-US" sz="1400" dirty="0">
                          <a:solidFill>
                            <a:srgbClr val="21295C"/>
                          </a:solidFill>
                          <a:latin typeface="Calibri" pitchFamily="34" charset="0"/>
                          <a:ea typeface="Calibri" pitchFamily="34" charset="-122"/>
                          <a:cs typeface="Calibri" pitchFamily="34" charset="-120"/>
                        </a:rPr>
                        <a:t>0.9596</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FF4F8"/>
                    </a:solidFill>
                  </a:tcPr>
                </a:tc>
                <a:tc>
                  <a:txBody>
                    <a:bodyPr/>
                    <a:lstStyle/>
                    <a:p>
                      <a:pPr marL="0" indent="0" algn="ctr">
                        <a:buNone/>
                      </a:pPr>
                      <a:r>
                        <a:rPr lang="en-US" sz="1400" dirty="0">
                          <a:solidFill>
                            <a:srgbClr val="21295C"/>
                          </a:solidFill>
                          <a:latin typeface="Calibri" pitchFamily="34" charset="0"/>
                          <a:ea typeface="Calibri" pitchFamily="34" charset="-122"/>
                          <a:cs typeface="Calibri" pitchFamily="34" charset="-120"/>
                        </a:rPr>
                        <a:t>0.9619</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FF4F8"/>
                    </a:solidFill>
                  </a:tcPr>
                </a:tc>
                <a:extLst>
                  <a:ext uri="{0D108BD9-81ED-4DB2-BD59-A6C34878D82A}">
                    <a16:rowId xmlns:a16="http://schemas.microsoft.com/office/drawing/2014/main" val="10002"/>
                  </a:ext>
                </a:extLst>
              </a:tr>
              <a:tr h="548640">
                <a:tc>
                  <a:txBody>
                    <a:bodyPr/>
                    <a:lstStyle/>
                    <a:p>
                      <a:pPr marL="0" indent="0" algn="l">
                        <a:buNone/>
                      </a:pPr>
                      <a:r>
                        <a:rPr lang="en-US" sz="1400" dirty="0">
                          <a:solidFill>
                            <a:srgbClr val="21295C"/>
                          </a:solidFill>
                          <a:latin typeface="Calibri" pitchFamily="34" charset="0"/>
                          <a:ea typeface="Calibri" pitchFamily="34" charset="-122"/>
                          <a:cs typeface="Calibri" pitchFamily="34" charset="-120"/>
                        </a:rPr>
                        <a:t>Malware</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1295C"/>
                          </a:solidFill>
                          <a:latin typeface="Calibri" pitchFamily="34" charset="0"/>
                          <a:ea typeface="Calibri" pitchFamily="34" charset="-122"/>
                          <a:cs typeface="Calibri" pitchFamily="34" charset="-120"/>
                        </a:rPr>
                        <a:t>0.9908</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1295C"/>
                          </a:solidFill>
                          <a:latin typeface="Calibri" pitchFamily="34" charset="0"/>
                          <a:ea typeface="Calibri" pitchFamily="34" charset="-122"/>
                          <a:cs typeface="Calibri" pitchFamily="34" charset="-120"/>
                        </a:rPr>
                        <a:t>0.9705</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21295C"/>
                          </a:solidFill>
                          <a:latin typeface="Calibri" pitchFamily="34" charset="0"/>
                          <a:ea typeface="Calibri" pitchFamily="34" charset="-122"/>
                          <a:cs typeface="Calibri" pitchFamily="34" charset="-120"/>
                        </a:rPr>
                        <a:t>0.9805</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400" dirty="0">
                          <a:solidFill>
                            <a:srgbClr val="21295C"/>
                          </a:solidFill>
                          <a:latin typeface="Calibri" pitchFamily="34" charset="0"/>
                          <a:ea typeface="Calibri" pitchFamily="34" charset="-122"/>
                          <a:cs typeface="Calibri" pitchFamily="34" charset="-120"/>
                        </a:rPr>
                        <a:t>Defacement</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FF4F8"/>
                    </a:solidFill>
                  </a:tcPr>
                </a:tc>
                <a:tc>
                  <a:txBody>
                    <a:bodyPr/>
                    <a:lstStyle/>
                    <a:p>
                      <a:pPr marL="0" indent="0" algn="ctr">
                        <a:buNone/>
                      </a:pPr>
                      <a:r>
                        <a:rPr lang="en-US" sz="1400" dirty="0">
                          <a:solidFill>
                            <a:srgbClr val="21295C"/>
                          </a:solidFill>
                          <a:latin typeface="Calibri" pitchFamily="34" charset="0"/>
                          <a:ea typeface="Calibri" pitchFamily="34" charset="-122"/>
                          <a:cs typeface="Calibri" pitchFamily="34" charset="-120"/>
                        </a:rPr>
                        <a:t>0.9974</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FF4F8"/>
                    </a:solidFill>
                  </a:tcPr>
                </a:tc>
                <a:tc>
                  <a:txBody>
                    <a:bodyPr/>
                    <a:lstStyle/>
                    <a:p>
                      <a:pPr marL="0" indent="0" algn="ctr">
                        <a:buNone/>
                      </a:pPr>
                      <a:r>
                        <a:rPr lang="en-US" sz="1400" dirty="0">
                          <a:solidFill>
                            <a:srgbClr val="21295C"/>
                          </a:solidFill>
                          <a:latin typeface="Calibri" pitchFamily="34" charset="0"/>
                          <a:ea typeface="Calibri" pitchFamily="34" charset="-122"/>
                          <a:cs typeface="Calibri" pitchFamily="34" charset="-120"/>
                        </a:rPr>
                        <a:t>0.9991</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FF4F8"/>
                    </a:solidFill>
                  </a:tcPr>
                </a:tc>
                <a:tc>
                  <a:txBody>
                    <a:bodyPr/>
                    <a:lstStyle/>
                    <a:p>
                      <a:pPr marL="0" indent="0" algn="ctr">
                        <a:buNone/>
                      </a:pPr>
                      <a:r>
                        <a:rPr lang="en-US" sz="1400" dirty="0">
                          <a:solidFill>
                            <a:srgbClr val="21295C"/>
                          </a:solidFill>
                          <a:latin typeface="Calibri" pitchFamily="34" charset="0"/>
                          <a:ea typeface="Calibri" pitchFamily="34" charset="-122"/>
                          <a:cs typeface="Calibri" pitchFamily="34" charset="-120"/>
                        </a:rPr>
                        <a:t>0.9982</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EFF4F8"/>
                    </a:solidFill>
                  </a:tcPr>
                </a:tc>
                <a:extLst>
                  <a:ext uri="{0D108BD9-81ED-4DB2-BD59-A6C34878D82A}">
                    <a16:rowId xmlns:a16="http://schemas.microsoft.com/office/drawing/2014/main" val="10004"/>
                  </a:ext>
                </a:extLst>
              </a:tr>
              <a:tr h="54864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Macro Avg</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065A82"/>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0.9861</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065A82"/>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0.9809</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065A82"/>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0.9835</a:t>
                      </a:r>
                      <a:endParaRPr lang="en-US" sz="1400" dirty="0">
                        <a:latin typeface="Calibri" charset="0"/>
                        <a:ea typeface="Calibri" charset="0"/>
                        <a:cs typeface="Calibri" charset="0"/>
                      </a:endParaRPr>
                    </a:p>
                  </a:txBody>
                  <a:tcPr>
                    <a:lnL w="12700" cap="flat" cmpd="sng" algn="ctr">
                      <a:solidFill>
                        <a:srgbClr val="E1E8ED"/>
                      </a:solidFill>
                      <a:prstDash val="solid"/>
                      <a:round/>
                      <a:headEnd type="none" w="med" len="med"/>
                      <a:tailEnd type="none" w="med" len="med"/>
                    </a:lnL>
                    <a:lnR w="12700" cap="flat" cmpd="sng" algn="ctr">
                      <a:solidFill>
                        <a:srgbClr val="E1E8ED"/>
                      </a:solidFill>
                      <a:prstDash val="solid"/>
                      <a:round/>
                      <a:headEnd type="none" w="med" len="med"/>
                      <a:tailEnd type="none" w="med" len="med"/>
                    </a:lnR>
                    <a:lnT w="12700" cap="flat" cmpd="sng" algn="ctr">
                      <a:solidFill>
                        <a:srgbClr val="E1E8ED"/>
                      </a:solidFill>
                      <a:prstDash val="solid"/>
                      <a:round/>
                      <a:headEnd type="none" w="med" len="med"/>
                      <a:tailEnd type="none" w="med" len="med"/>
                    </a:lnT>
                    <a:lnB w="12700" cap="flat" cmpd="sng" algn="ctr">
                      <a:solidFill>
                        <a:srgbClr val="E1E8ED"/>
                      </a:solidFill>
                      <a:prstDash val="solid"/>
                      <a:round/>
                      <a:headEnd type="none" w="med" len="med"/>
                      <a:tailEnd type="none" w="med" len="med"/>
                    </a:lnB>
                    <a:solidFill>
                      <a:srgbClr val="065A82"/>
                    </a:solidFill>
                  </a:tcPr>
                </a:tc>
                <a:extLst>
                  <a:ext uri="{0D108BD9-81ED-4DB2-BD59-A6C34878D82A}">
                    <a16:rowId xmlns:a16="http://schemas.microsoft.com/office/drawing/2014/main" val="10005"/>
                  </a:ext>
                </a:extLst>
              </a:tr>
            </a:tbl>
          </a:graphicData>
        </a:graphic>
      </p:graphicFrame>
      <p:sp>
        <p:nvSpPr>
          <p:cNvPr id="5" name="Text 2"/>
          <p:cNvSpPr/>
          <p:nvPr/>
        </p:nvSpPr>
        <p:spPr>
          <a:xfrm>
            <a:off x="822960" y="5394960"/>
            <a:ext cx="10515600" cy="548640"/>
          </a:xfrm>
          <a:prstGeom prst="rect">
            <a:avLst/>
          </a:prstGeom>
          <a:noFill/>
          <a:ln/>
        </p:spPr>
        <p:txBody>
          <a:bodyPr wrap="square" rtlCol="0" anchor="ctr"/>
          <a:lstStyle/>
          <a:p>
            <a:pPr marL="0" indent="0">
              <a:buNone/>
            </a:pPr>
            <a:r>
              <a:rPr lang="en-US" sz="1300" i="1" dirty="0">
                <a:solidFill>
                  <a:srgbClr val="5B6B7A"/>
                </a:solidFill>
                <a:latin typeface="Calibri" pitchFamily="34" charset="0"/>
                <a:ea typeface="Calibri" pitchFamily="34" charset="-122"/>
                <a:cs typeface="Calibri" pitchFamily="34" charset="-120"/>
              </a:rPr>
              <a:t>Phishing is the hardest class (borderline URLs resemble benign login pages) — still 96%+ F1. Defacement is near-perfect due to distinctive lexical patterns.</a:t>
            </a:r>
            <a:endParaRPr lang="en-US" sz="1300" dirty="0"/>
          </a:p>
        </p:txBody>
      </p:sp>
      <p:sp>
        <p:nvSpPr>
          <p:cNvPr id="6" name="Text 3"/>
          <p:cNvSpPr/>
          <p:nvPr/>
        </p:nvSpPr>
        <p:spPr>
          <a:xfrm>
            <a:off x="11475720" y="6446520"/>
            <a:ext cx="54864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731520"/>
            <a:ext cx="9601200" cy="73152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Confusion Matrix</a:t>
            </a:r>
            <a:endParaRPr lang="en-US" sz="3000" dirty="0"/>
          </a:p>
        </p:txBody>
      </p:sp>
      <p:pic>
        <p:nvPicPr>
          <p:cNvPr id="12" name="Confusion Matrix Image"/>
          <p:cNvPicPr>
            <a:picLocks noChangeAspect="1"/>
          </p:cNvPicPr>
          <p:nvPr/>
        </p:nvPicPr>
        <p:blipFill>
          <a:blip r:embed="rId2"/>
          <a:stretch>
            <a:fillRect/>
          </a:stretch>
        </p:blipFill>
        <p:spPr>
          <a:xfrm>
            <a:off x="3948410" y="1650000"/>
            <a:ext cx="4295180" cy="3550000"/>
          </a:xfrm>
          <a:prstGeom prst="rect">
            <a:avLst/>
          </a:prstGeom>
          <a:ln w="9525">
            <a:solidFill>
              <a:srgbClr val="D9E2E8"/>
            </a:solidFill>
          </a:ln>
        </p:spPr>
      </p:pic>
      <p:sp>
        <p:nvSpPr>
          <p:cNvPr id="5" name="Text 2"/>
          <p:cNvSpPr/>
          <p:nvPr/>
        </p:nvSpPr>
        <p:spPr>
          <a:xfrm>
            <a:off x="822960" y="5394960"/>
            <a:ext cx="10515600" cy="548640"/>
          </a:xfrm>
          <a:prstGeom prst="rect">
            <a:avLst/>
          </a:prstGeom>
          <a:noFill/>
          <a:ln/>
        </p:spPr>
        <p:txBody>
          <a:bodyPr wrap="square" rtlCol="0" anchor="ctr"/>
          <a:lstStyle/>
          <a:p>
            <a:pPr marL="0" indent="0" algn="ctr">
              <a:buNone/>
            </a:pPr>
            <a:r>
              <a:rPr lang="en-US" sz="1300" i="1" dirty="0">
                <a:solidFill>
                  <a:srgbClr val="5B6B7A"/>
                </a:solidFill>
                <a:latin typeface="Calibri" pitchFamily="34" charset="0"/>
                <a:ea typeface="Calibri" pitchFamily="34" charset="-122"/>
                <a:cs typeface="Calibri" pitchFamily="34" charset="-120"/>
              </a:rPr>
              <a:t>Most predictions lie on the main diagonal, indicating excellent classification performance.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PRACTICAL PART</a:t>
            </a:r>
            <a:endParaRPr lang="en-US" sz="1200" dirty="0"/>
          </a:p>
        </p:txBody>
      </p:sp>
      <p:sp>
        <p:nvSpPr>
          <p:cNvPr id="3" name="Text 1"/>
          <p:cNvSpPr/>
          <p:nvPr/>
        </p:nvSpPr>
        <p:spPr>
          <a:xfrm>
            <a:off x="548640" y="731520"/>
            <a:ext cx="9601200" cy="73152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Working Demo — Live Classification</a:t>
            </a:r>
            <a:endParaRPr lang="en-US" sz="3000" dirty="0"/>
          </a:p>
        </p:txBody>
      </p:sp>
      <p:sp>
        <p:nvSpPr>
          <p:cNvPr id="4" name="Text 2"/>
          <p:cNvSpPr/>
          <p:nvPr/>
        </p:nvSpPr>
        <p:spPr>
          <a:xfrm>
            <a:off x="548640" y="1600200"/>
            <a:ext cx="4937760" cy="457200"/>
          </a:xfrm>
          <a:prstGeom prst="rect">
            <a:avLst/>
          </a:prstGeom>
          <a:solidFill>
            <a:srgbClr val="21295C"/>
          </a:solid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Real-Time URL Classification</a:t>
            </a:r>
            <a:endParaRPr lang="en-US" sz="1400" dirty="0"/>
          </a:p>
        </p:txBody>
      </p:sp>
      <p:sp>
        <p:nvSpPr>
          <p:cNvPr id="5" name="Shape 3"/>
          <p:cNvSpPr/>
          <p:nvPr/>
        </p:nvSpPr>
        <p:spPr>
          <a:xfrm>
            <a:off x="548640" y="2386584"/>
            <a:ext cx="146304" cy="146304"/>
          </a:xfrm>
          <a:prstGeom prst="ellipse">
            <a:avLst/>
          </a:prstGeom>
          <a:solidFill>
            <a:srgbClr val="00C2A8"/>
          </a:solidFill>
          <a:ln/>
        </p:spPr>
      </p:sp>
      <p:sp>
        <p:nvSpPr>
          <p:cNvPr id="6" name="Text 4"/>
          <p:cNvSpPr/>
          <p:nvPr/>
        </p:nvSpPr>
        <p:spPr>
          <a:xfrm>
            <a:off x="868680" y="2258568"/>
            <a:ext cx="4572000" cy="594360"/>
          </a:xfrm>
          <a:prstGeom prst="rect">
            <a:avLst/>
          </a:prstGeom>
          <a:noFill/>
          <a:ln/>
        </p:spPr>
        <p:txBody>
          <a:bodyPr wrap="square" rtlCol="0" anchor="t"/>
          <a:lstStyle/>
          <a:p>
            <a:pPr marL="0" indent="0">
              <a:buNone/>
            </a:pPr>
            <a:r>
              <a:rPr lang="en-US" sz="1300" dirty="0">
                <a:solidFill>
                  <a:srgbClr val="21295C"/>
                </a:solidFill>
                <a:latin typeface="Calibri" pitchFamily="34" charset="0"/>
                <a:ea typeface="Calibri" pitchFamily="34" charset="-122"/>
                <a:cs typeface="Calibri" pitchFamily="34" charset="-120"/>
              </a:rPr>
              <a:t>Enter any URL and get a real-time prediction</a:t>
            </a:r>
            <a:endParaRPr lang="en-US" sz="1300" dirty="0"/>
          </a:p>
        </p:txBody>
      </p:sp>
      <p:sp>
        <p:nvSpPr>
          <p:cNvPr id="7" name="Shape 5"/>
          <p:cNvSpPr/>
          <p:nvPr/>
        </p:nvSpPr>
        <p:spPr>
          <a:xfrm>
            <a:off x="548640" y="3163824"/>
            <a:ext cx="146304" cy="146304"/>
          </a:xfrm>
          <a:prstGeom prst="ellipse">
            <a:avLst/>
          </a:prstGeom>
          <a:solidFill>
            <a:srgbClr val="00C2A8"/>
          </a:solidFill>
          <a:ln/>
        </p:spPr>
      </p:sp>
      <p:sp>
        <p:nvSpPr>
          <p:cNvPr id="8" name="Text 6"/>
          <p:cNvSpPr/>
          <p:nvPr/>
        </p:nvSpPr>
        <p:spPr>
          <a:xfrm>
            <a:off x="868680" y="3035808"/>
            <a:ext cx="4572000" cy="594360"/>
          </a:xfrm>
          <a:prstGeom prst="rect">
            <a:avLst/>
          </a:prstGeom>
          <a:noFill/>
          <a:ln/>
        </p:spPr>
        <p:txBody>
          <a:bodyPr wrap="square" rtlCol="0" anchor="t"/>
          <a:lstStyle/>
          <a:p>
            <a:pPr marL="0" indent="0">
              <a:buNone/>
            </a:pPr>
            <a:r>
              <a:rPr lang="en-US" sz="1300" dirty="0">
                <a:solidFill>
                  <a:srgbClr val="21295C"/>
                </a:solidFill>
                <a:latin typeface="Calibri" pitchFamily="34" charset="0"/>
                <a:ea typeface="Calibri" pitchFamily="34" charset="-122"/>
                <a:cs typeface="Calibri" pitchFamily="34" charset="-120"/>
              </a:rPr>
              <a:t>Confidence score with full class-probability bars</a:t>
            </a:r>
            <a:endParaRPr lang="en-US" sz="1300" dirty="0"/>
          </a:p>
        </p:txBody>
      </p:sp>
      <p:sp>
        <p:nvSpPr>
          <p:cNvPr id="9" name="Shape 7"/>
          <p:cNvSpPr/>
          <p:nvPr/>
        </p:nvSpPr>
        <p:spPr>
          <a:xfrm>
            <a:off x="548640" y="3941064"/>
            <a:ext cx="146304" cy="146304"/>
          </a:xfrm>
          <a:prstGeom prst="ellipse">
            <a:avLst/>
          </a:prstGeom>
          <a:solidFill>
            <a:srgbClr val="00C2A8"/>
          </a:solidFill>
          <a:ln/>
        </p:spPr>
      </p:sp>
      <p:sp>
        <p:nvSpPr>
          <p:cNvPr id="10" name="Text 8"/>
          <p:cNvSpPr/>
          <p:nvPr/>
        </p:nvSpPr>
        <p:spPr>
          <a:xfrm>
            <a:off x="868680" y="3813048"/>
            <a:ext cx="4572000" cy="594360"/>
          </a:xfrm>
          <a:prstGeom prst="rect">
            <a:avLst/>
          </a:prstGeom>
          <a:noFill/>
          <a:ln/>
        </p:spPr>
        <p:txBody>
          <a:bodyPr wrap="square" rtlCol="0" anchor="t"/>
          <a:lstStyle/>
          <a:p>
            <a:pPr marL="0" indent="0">
              <a:buNone/>
            </a:pPr>
            <a:r>
              <a:rPr lang="en-US" sz="1300" dirty="0">
                <a:solidFill>
                  <a:srgbClr val="21295C"/>
                </a:solidFill>
                <a:latin typeface="Calibri" pitchFamily="34" charset="0"/>
                <a:ea typeface="Calibri" pitchFamily="34" charset="-122"/>
                <a:cs typeface="Calibri" pitchFamily="34" charset="-120"/>
              </a:rPr>
              <a:t>Predictions below the 0.60 threshold flagged as “uncertain” rather than force-classified</a:t>
            </a:r>
            <a:endParaRPr lang="en-US" sz="1300" dirty="0"/>
          </a:p>
        </p:txBody>
      </p:sp>
      <p:sp>
        <p:nvSpPr>
          <p:cNvPr id="11" name="Shape 9"/>
          <p:cNvSpPr/>
          <p:nvPr/>
        </p:nvSpPr>
        <p:spPr>
          <a:xfrm>
            <a:off x="548640" y="4718304"/>
            <a:ext cx="146304" cy="146304"/>
          </a:xfrm>
          <a:prstGeom prst="ellipse">
            <a:avLst/>
          </a:prstGeom>
          <a:solidFill>
            <a:srgbClr val="00C2A8"/>
          </a:solidFill>
          <a:ln/>
        </p:spPr>
      </p:sp>
      <p:sp>
        <p:nvSpPr>
          <p:cNvPr id="12" name="Text 10"/>
          <p:cNvSpPr/>
          <p:nvPr/>
        </p:nvSpPr>
        <p:spPr>
          <a:xfrm>
            <a:off x="868680" y="4590288"/>
            <a:ext cx="4572000" cy="594360"/>
          </a:xfrm>
          <a:prstGeom prst="rect">
            <a:avLst/>
          </a:prstGeom>
          <a:noFill/>
          <a:ln/>
        </p:spPr>
        <p:txBody>
          <a:bodyPr wrap="square" rtlCol="0" anchor="t"/>
          <a:lstStyle/>
          <a:p>
            <a:pPr marL="0" indent="0">
              <a:buNone/>
            </a:pPr>
            <a:r>
              <a:rPr lang="en-US" sz="1300" dirty="0">
                <a:solidFill>
                  <a:srgbClr val="21295C"/>
                </a:solidFill>
                <a:latin typeface="Calibri" pitchFamily="34" charset="0"/>
                <a:ea typeface="Calibri" pitchFamily="34" charset="-122"/>
                <a:cs typeface="Calibri" pitchFamily="34" charset="-120"/>
              </a:rPr>
              <a:t>Runs the exact same trained model used for the reported test results</a:t>
            </a:r>
            <a:endParaRPr lang="en-US" sz="1300" dirty="0"/>
          </a:p>
        </p:txBody>
      </p:sp>
      <p:sp>
        <p:nvSpPr>
          <p:cNvPr id="13" name="Shape 11"/>
          <p:cNvSpPr/>
          <p:nvPr/>
        </p:nvSpPr>
        <p:spPr>
          <a:xfrm>
            <a:off x="5852160" y="1600200"/>
            <a:ext cx="5760720" cy="4480560"/>
          </a:xfrm>
          <a:prstGeom prst="roundRect">
            <a:avLst>
              <a:gd name="adj" fmla="val 2041"/>
            </a:avLst>
          </a:prstGeom>
          <a:solidFill>
            <a:srgbClr val="FFFFFF"/>
          </a:solidFill>
          <a:ln w="19050">
            <a:solidFill>
              <a:srgbClr val="D9E2E8"/>
            </a:solidFill>
            <a:prstDash val="solid"/>
          </a:ln>
          <a:effectLst>
            <a:outerShdw blurRad="127000" dist="50800" dir="5400000" algn="bl" rotWithShape="0">
              <a:srgbClr val="365472">
                <a:alpha val="20000"/>
              </a:srgbClr>
            </a:outerShdw>
          </a:effectLst>
        </p:spPr>
      </p:sp>
      <p:sp>
        <p:nvSpPr>
          <p:cNvPr id="14" name="Shape 12"/>
          <p:cNvSpPr/>
          <p:nvPr/>
        </p:nvSpPr>
        <p:spPr>
          <a:xfrm>
            <a:off x="5852160" y="1600200"/>
            <a:ext cx="5760720" cy="502920"/>
          </a:xfrm>
          <a:prstGeom prst="rect">
            <a:avLst/>
          </a:prstGeom>
          <a:solidFill>
            <a:srgbClr val="21295C"/>
          </a:solidFill>
          <a:ln/>
        </p:spPr>
      </p:sp>
      <p:sp>
        <p:nvSpPr>
          <p:cNvPr id="15" name="Text 13"/>
          <p:cNvSpPr/>
          <p:nvPr/>
        </p:nvSpPr>
        <p:spPr>
          <a:xfrm>
            <a:off x="6080760" y="1600200"/>
            <a:ext cx="5303520" cy="5029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Live Demo — Actual Screenshots</a:t>
            </a:r>
            <a:endParaRPr lang="en-US" sz="1250" dirty="0"/>
          </a:p>
        </p:txBody>
      </p:sp>
      <p:pic>
        <p:nvPicPr>
          <p:cNvPr id="16" name="Demo Screenshot 1"/>
          <p:cNvPicPr>
            <a:picLocks noChangeAspect="1"/>
          </p:cNvPicPr>
          <p:nvPr/>
        </p:nvPicPr>
        <p:blipFill>
          <a:blip r:embed="rId3"/>
          <a:stretch>
            <a:fillRect/>
          </a:stretch>
        </p:blipFill>
        <p:spPr>
          <a:xfrm>
            <a:off x="6065405" y="2103120"/>
            <a:ext cx="2591431" cy="1550000"/>
          </a:xfrm>
          <a:prstGeom prst="rect">
            <a:avLst/>
          </a:prstGeom>
          <a:ln w="9525">
            <a:solidFill>
              <a:srgbClr val="D9E2E8"/>
            </a:solidFill>
          </a:ln>
        </p:spPr>
      </p:pic>
      <p:pic>
        <p:nvPicPr>
          <p:cNvPr id="17" name="Demo Screenshot 2"/>
          <p:cNvPicPr>
            <a:picLocks noChangeAspect="1"/>
          </p:cNvPicPr>
          <p:nvPr/>
        </p:nvPicPr>
        <p:blipFill>
          <a:blip r:embed="rId4"/>
          <a:stretch>
            <a:fillRect/>
          </a:stretch>
        </p:blipFill>
        <p:spPr>
          <a:xfrm>
            <a:off x="8839716" y="2103120"/>
            <a:ext cx="2559920" cy="1550000"/>
          </a:xfrm>
          <a:prstGeom prst="rect">
            <a:avLst/>
          </a:prstGeom>
          <a:ln w="9525">
            <a:solidFill>
              <a:srgbClr val="D9E2E8"/>
            </a:solidFill>
          </a:ln>
        </p:spPr>
      </p:pic>
      <p:sp>
        <p:nvSpPr>
          <p:cNvPr id="18" name="Text 16"/>
          <p:cNvSpPr/>
          <p:nvPr/>
        </p:nvSpPr>
        <p:spPr>
          <a:xfrm>
            <a:off x="6065405" y="3744560"/>
            <a:ext cx="2591431" cy="365760"/>
          </a:xfrm>
          <a:prstGeom prst="rect">
            <a:avLst/>
          </a:prstGeom>
          <a:noFill/>
          <a:ln/>
        </p:spPr>
        <p:txBody>
          <a:bodyPr wrap="square" rtlCol="0" anchor="ctr"/>
          <a:lstStyle/>
          <a:p>
            <a:pPr marL="0" indent="0" algn="ctr">
              <a:buNone/>
            </a:pPr>
            <a:r>
              <a:rPr lang="en-US" sz="1100" i="1" dirty="0">
                <a:solidFill>
                  <a:srgbClr val="5B6B7A"/>
                </a:solidFill>
                <a:latin typeface="Calibri" pitchFamily="34" charset="0"/>
                <a:ea typeface="Calibri" pitchFamily="34" charset="-122"/>
                <a:cs typeface="Calibri" pitchFamily="34" charset="-120"/>
              </a:rPr>
              <a:t>Enter a URL to classify</a:t>
            </a:r>
            <a:endParaRPr lang="en-US" sz="1100" dirty="0"/>
          </a:p>
        </p:txBody>
      </p:sp>
      <p:sp>
        <p:nvSpPr>
          <p:cNvPr id="19" name="Text 17"/>
          <p:cNvSpPr/>
          <p:nvPr/>
        </p:nvSpPr>
        <p:spPr>
          <a:xfrm>
            <a:off x="8839716" y="3744560"/>
            <a:ext cx="2559920" cy="365760"/>
          </a:xfrm>
          <a:prstGeom prst="rect">
            <a:avLst/>
          </a:prstGeom>
          <a:noFill/>
          <a:ln/>
        </p:spPr>
        <p:txBody>
          <a:bodyPr wrap="square" rtlCol="0" anchor="ctr"/>
          <a:lstStyle/>
          <a:p>
            <a:pPr marL="0" indent="0" algn="ctr">
              <a:buNone/>
            </a:pPr>
            <a:r>
              <a:rPr lang="en-US" sz="1100" i="1" dirty="0">
                <a:solidFill>
                  <a:srgbClr val="5B6B7A"/>
                </a:solidFill>
                <a:latin typeface="Calibri" pitchFamily="34" charset="0"/>
                <a:ea typeface="Calibri" pitchFamily="34" charset="-122"/>
                <a:cs typeface="Calibri" pitchFamily="34" charset="-120"/>
              </a:rPr>
              <a:t>Phishing detected — 99.9% confidence</a:t>
            </a:r>
            <a:endParaRPr lang="en-US" sz="1100" dirty="0"/>
          </a:p>
        </p:txBody>
      </p:sp>
      <p:sp>
        <p:nvSpPr>
          <p:cNvPr id="20" name="Text 18"/>
          <p:cNvSpPr/>
          <p:nvPr/>
        </p:nvSpPr>
        <p:spPr>
          <a:xfrm>
            <a:off x="6080760" y="4297680"/>
            <a:ext cx="5303520" cy="594360"/>
          </a:xfrm>
          <a:prstGeom prst="rect">
            <a:avLst/>
          </a:prstGeom>
          <a:noFill/>
          <a:ln/>
        </p:spPr>
        <p:txBody>
          <a:bodyPr wrap="square" rtlCol="0" anchor="t"/>
          <a:lstStyle/>
          <a:p>
            <a:pPr marL="0" indent="0" algn="ctr">
              <a:buNone/>
            </a:pPr>
            <a:r>
              <a:rPr lang="en-US" sz="1150" dirty="0">
                <a:solidFill>
                  <a:srgbClr val="21295C"/>
                </a:solidFill>
                <a:latin typeface="Calibri" pitchFamily="34" charset="0"/>
                <a:ea typeface="Calibri" pitchFamily="34" charset="-122"/>
                <a:cs typeface="Calibri" pitchFamily="34" charset="-120"/>
              </a:rPr>
              <a:t>Captured directly from the deployed Gradio web app — not a mockup</a:t>
            </a:r>
            <a:endParaRPr lang="en-US" sz="1150" dirty="0"/>
          </a:p>
        </p:txBody>
      </p:sp>
      <p:sp>
        <p:nvSpPr>
          <p:cNvPr id="32" name="Text 30"/>
          <p:cNvSpPr/>
          <p:nvPr/>
        </p:nvSpPr>
        <p:spPr>
          <a:xfrm>
            <a:off x="11475720" y="6446520"/>
            <a:ext cx="54864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731520"/>
            <a:ext cx="9601200" cy="73152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Key Takeaways</a:t>
            </a:r>
            <a:endParaRPr lang="en-US" sz="3000" dirty="0"/>
          </a:p>
        </p:txBody>
      </p:sp>
      <p:sp>
        <p:nvSpPr>
          <p:cNvPr id="4" name="Shape 2"/>
          <p:cNvSpPr/>
          <p:nvPr/>
        </p:nvSpPr>
        <p:spPr>
          <a:xfrm>
            <a:off x="548640" y="1737360"/>
            <a:ext cx="5212080" cy="1874520"/>
          </a:xfrm>
          <a:prstGeom prst="roundRect">
            <a:avLst>
              <a:gd name="adj" fmla="val 3902"/>
            </a:avLst>
          </a:prstGeom>
          <a:solidFill>
            <a:srgbClr val="065A82"/>
          </a:solidFill>
          <a:ln/>
        </p:spPr>
      </p:sp>
      <p:sp>
        <p:nvSpPr>
          <p:cNvPr id="5" name="Text 3"/>
          <p:cNvSpPr/>
          <p:nvPr/>
        </p:nvSpPr>
        <p:spPr>
          <a:xfrm>
            <a:off x="822960" y="1938528"/>
            <a:ext cx="4663440" cy="4572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98.89% accuracy</a:t>
            </a:r>
            <a:endParaRPr lang="en-US" sz="1600" dirty="0"/>
          </a:p>
        </p:txBody>
      </p:sp>
      <p:sp>
        <p:nvSpPr>
          <p:cNvPr id="6" name="Text 4"/>
          <p:cNvSpPr/>
          <p:nvPr/>
        </p:nvSpPr>
        <p:spPr>
          <a:xfrm>
            <a:off x="822960" y="2468880"/>
            <a:ext cx="4663440" cy="1005840"/>
          </a:xfrm>
          <a:prstGeom prst="rect">
            <a:avLst/>
          </a:prstGeom>
          <a:noFill/>
          <a:ln/>
        </p:spPr>
        <p:txBody>
          <a:bodyPr wrap="square" rtlCol="0" anchor="t"/>
          <a:lstStyle/>
          <a:p>
            <a:pPr marL="0" indent="0">
              <a:buNone/>
            </a:pPr>
            <a:r>
              <a:rPr lang="en-US" sz="1250" dirty="0">
                <a:solidFill>
                  <a:srgbClr val="EAF3F7"/>
                </a:solidFill>
                <a:latin typeface="Calibri" pitchFamily="34" charset="0"/>
                <a:ea typeface="Calibri" pitchFamily="34" charset="-122"/>
                <a:cs typeface="Calibri" pitchFamily="34" charset="-120"/>
              </a:rPr>
              <a:t>Classifying URLs into 4 categories using raw text alone, with zero handcrafted features.</a:t>
            </a:r>
            <a:endParaRPr lang="en-US" sz="1250" dirty="0"/>
          </a:p>
        </p:txBody>
      </p:sp>
      <p:sp>
        <p:nvSpPr>
          <p:cNvPr id="7" name="Shape 5"/>
          <p:cNvSpPr/>
          <p:nvPr/>
        </p:nvSpPr>
        <p:spPr>
          <a:xfrm>
            <a:off x="6126480" y="1737360"/>
            <a:ext cx="5212080" cy="1874520"/>
          </a:xfrm>
          <a:prstGeom prst="roundRect">
            <a:avLst>
              <a:gd name="adj" fmla="val 3902"/>
            </a:avLst>
          </a:prstGeom>
          <a:solidFill>
            <a:srgbClr val="065A82"/>
          </a:solidFill>
          <a:ln/>
        </p:spPr>
      </p:sp>
      <p:sp>
        <p:nvSpPr>
          <p:cNvPr id="8" name="Text 6"/>
          <p:cNvSpPr/>
          <p:nvPr/>
        </p:nvSpPr>
        <p:spPr>
          <a:xfrm>
            <a:off x="6400800" y="1938528"/>
            <a:ext cx="4663440" cy="4572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DistilBERT is enough</a:t>
            </a:r>
            <a:endParaRPr lang="en-US" sz="1600" dirty="0"/>
          </a:p>
        </p:txBody>
      </p:sp>
      <p:sp>
        <p:nvSpPr>
          <p:cNvPr id="9" name="Text 7"/>
          <p:cNvSpPr/>
          <p:nvPr/>
        </p:nvSpPr>
        <p:spPr>
          <a:xfrm>
            <a:off x="6400800" y="2468880"/>
            <a:ext cx="4663440" cy="1005840"/>
          </a:xfrm>
          <a:prstGeom prst="rect">
            <a:avLst/>
          </a:prstGeom>
          <a:noFill/>
          <a:ln/>
        </p:spPr>
        <p:txBody>
          <a:bodyPr wrap="square" rtlCol="0" anchor="t"/>
          <a:lstStyle/>
          <a:p>
            <a:pPr marL="0" indent="0">
              <a:buNone/>
            </a:pPr>
            <a:r>
              <a:rPr lang="en-US" sz="1250" dirty="0">
                <a:solidFill>
                  <a:srgbClr val="EAF3F7"/>
                </a:solidFill>
                <a:latin typeface="Calibri" pitchFamily="34" charset="0"/>
                <a:ea typeface="Calibri" pitchFamily="34" charset="-122"/>
                <a:cs typeface="Calibri" pitchFamily="34" charset="-120"/>
              </a:rPr>
              <a:t>A lighter, faster transformer matches the job — URLs are short sequences that don't need full BERT.</a:t>
            </a:r>
            <a:endParaRPr lang="en-US" sz="1250" dirty="0"/>
          </a:p>
        </p:txBody>
      </p:sp>
      <p:sp>
        <p:nvSpPr>
          <p:cNvPr id="10" name="Shape 8"/>
          <p:cNvSpPr/>
          <p:nvPr/>
        </p:nvSpPr>
        <p:spPr>
          <a:xfrm>
            <a:off x="548640" y="3840480"/>
            <a:ext cx="5212080" cy="1874520"/>
          </a:xfrm>
          <a:prstGeom prst="roundRect">
            <a:avLst>
              <a:gd name="adj" fmla="val 3902"/>
            </a:avLst>
          </a:prstGeom>
          <a:solidFill>
            <a:srgbClr val="1C7293"/>
          </a:solidFill>
          <a:ln/>
        </p:spPr>
      </p:sp>
      <p:sp>
        <p:nvSpPr>
          <p:cNvPr id="11" name="Text 9"/>
          <p:cNvSpPr/>
          <p:nvPr/>
        </p:nvSpPr>
        <p:spPr>
          <a:xfrm>
            <a:off x="822960" y="4041648"/>
            <a:ext cx="4663440" cy="4572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Reliable by design</a:t>
            </a:r>
            <a:endParaRPr lang="en-US" sz="1600" dirty="0"/>
          </a:p>
        </p:txBody>
      </p:sp>
      <p:sp>
        <p:nvSpPr>
          <p:cNvPr id="12" name="Text 10"/>
          <p:cNvSpPr/>
          <p:nvPr/>
        </p:nvSpPr>
        <p:spPr>
          <a:xfrm>
            <a:off x="822960" y="4572000"/>
            <a:ext cx="4663440" cy="1005840"/>
          </a:xfrm>
          <a:prstGeom prst="rect">
            <a:avLst/>
          </a:prstGeom>
          <a:noFill/>
          <a:ln/>
        </p:spPr>
        <p:txBody>
          <a:bodyPr wrap="square" rtlCol="0" anchor="t"/>
          <a:lstStyle/>
          <a:p>
            <a:pPr marL="0" indent="0">
              <a:buNone/>
            </a:pPr>
            <a:r>
              <a:rPr lang="en-US" sz="1250" dirty="0">
                <a:solidFill>
                  <a:srgbClr val="EAF3F7"/>
                </a:solidFill>
                <a:latin typeface="Calibri" pitchFamily="34" charset="0"/>
                <a:ea typeface="Calibri" pitchFamily="34" charset="-122"/>
                <a:cs typeface="Calibri" pitchFamily="34" charset="-120"/>
              </a:rPr>
              <a:t>Stratified splits and a held-out test set mean the reported score reflects true generalization.</a:t>
            </a:r>
            <a:endParaRPr lang="en-US" sz="1250" dirty="0"/>
          </a:p>
        </p:txBody>
      </p:sp>
      <p:sp>
        <p:nvSpPr>
          <p:cNvPr id="13" name="Shape 11"/>
          <p:cNvSpPr/>
          <p:nvPr/>
        </p:nvSpPr>
        <p:spPr>
          <a:xfrm>
            <a:off x="6126480" y="3840480"/>
            <a:ext cx="5212080" cy="1874520"/>
          </a:xfrm>
          <a:prstGeom prst="roundRect">
            <a:avLst>
              <a:gd name="adj" fmla="val 3902"/>
            </a:avLst>
          </a:prstGeom>
          <a:solidFill>
            <a:srgbClr val="1C7293"/>
          </a:solidFill>
          <a:ln/>
        </p:spPr>
      </p:sp>
      <p:sp>
        <p:nvSpPr>
          <p:cNvPr id="14" name="Text 12"/>
          <p:cNvSpPr/>
          <p:nvPr/>
        </p:nvSpPr>
        <p:spPr>
          <a:xfrm>
            <a:off x="6400800" y="4041648"/>
            <a:ext cx="4663440" cy="4572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Working end-to-end system</a:t>
            </a:r>
            <a:endParaRPr lang="en-US" sz="1600" dirty="0"/>
          </a:p>
        </p:txBody>
      </p:sp>
      <p:sp>
        <p:nvSpPr>
          <p:cNvPr id="15" name="Text 13"/>
          <p:cNvSpPr/>
          <p:nvPr/>
        </p:nvSpPr>
        <p:spPr>
          <a:xfrm>
            <a:off x="6400800" y="4572000"/>
            <a:ext cx="4663440" cy="1005840"/>
          </a:xfrm>
          <a:prstGeom prst="rect">
            <a:avLst/>
          </a:prstGeom>
          <a:noFill/>
          <a:ln/>
        </p:spPr>
        <p:txBody>
          <a:bodyPr wrap="square" rtlCol="0" anchor="t"/>
          <a:lstStyle/>
          <a:p>
            <a:pPr marL="0" indent="0">
              <a:buNone/>
            </a:pPr>
            <a:r>
              <a:rPr lang="en-US" sz="1250" dirty="0">
                <a:solidFill>
                  <a:srgbClr val="EAF3F7"/>
                </a:solidFill>
                <a:latin typeface="Calibri" pitchFamily="34" charset="0"/>
                <a:ea typeface="Calibri" pitchFamily="34" charset="-122"/>
                <a:cs typeface="Calibri" pitchFamily="34" charset="-120"/>
              </a:rPr>
              <a:t>A trained model, an evaluation pipeline, and a live web demo — not just a notebook.</a:t>
            </a:r>
          </a:p>
          <a:p>
            <a:pPr marL="0" indent="0">
              <a:buNone/>
            </a:pPr>
            <a:r>
              <a:rPr lang="en-US" sz="1250" i="1" dirty="0">
                <a:solidFill>
                  <a:srgbClr val="EAF3F7"/>
                </a:solidFill>
                <a:latin typeface="Calibri" pitchFamily="34" charset="0"/>
                <a:ea typeface="Calibri" pitchFamily="34" charset="-122"/>
                <a:cs typeface="Calibri" pitchFamily="34" charset="-120"/>
              </a:rPr>
              <a:t>Ready to classify unseen URLs in real time.</a:t>
            </a:r>
            <a:endParaRPr lang="en-US" sz="1250" dirty="0"/>
          </a:p>
        </p:txBody>
      </p:sp>
      <p:sp>
        <p:nvSpPr>
          <p:cNvPr id="16" name="Text 14"/>
          <p:cNvSpPr/>
          <p:nvPr/>
        </p:nvSpPr>
        <p:spPr>
          <a:xfrm>
            <a:off x="11475720" y="6446520"/>
            <a:ext cx="54864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FUTURE WORK</a:t>
            </a:r>
            <a:endParaRPr lang="en-US" sz="1200" dirty="0"/>
          </a:p>
        </p:txBody>
      </p:sp>
      <p:sp>
        <p:nvSpPr>
          <p:cNvPr id="3" name="Text 1"/>
          <p:cNvSpPr/>
          <p:nvPr/>
        </p:nvSpPr>
        <p:spPr>
          <a:xfrm>
            <a:off x="548640" y="731520"/>
            <a:ext cx="9601200" cy="731520"/>
          </a:xfrm>
          <a:prstGeom prst="rect">
            <a:avLst/>
          </a:prstGeom>
          <a:noFill/>
          <a:ln/>
        </p:spPr>
        <p:txBody>
          <a:bodyPr wrap="square"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Where This Project Can Go Next</a:t>
            </a:r>
            <a:endParaRPr lang="en-US" sz="3000" dirty="0"/>
          </a:p>
        </p:txBody>
      </p:sp>
      <p:sp>
        <p:nvSpPr>
          <p:cNvPr id="4" name="Shape 2"/>
          <p:cNvSpPr/>
          <p:nvPr/>
        </p:nvSpPr>
        <p:spPr>
          <a:xfrm>
            <a:off x="548640" y="1828800"/>
            <a:ext cx="11064240" cy="1234440"/>
          </a:xfrm>
          <a:prstGeom prst="roundRect">
            <a:avLst>
              <a:gd name="adj" fmla="val 5926"/>
            </a:avLst>
          </a:prstGeom>
          <a:solidFill>
            <a:srgbClr val="FFFFFF"/>
          </a:solidFill>
          <a:ln w="12700">
            <a:solidFill>
              <a:srgbClr val="E1E8ED"/>
            </a:solidFill>
            <a:prstDash val="solid"/>
          </a:ln>
          <a:effectLst>
            <a:outerShdw blurRad="101600" dist="38100" dir="5400000" algn="bl" rotWithShape="0">
              <a:srgbClr val="365472">
                <a:alpha val="15000"/>
              </a:srgbClr>
            </a:outerShdw>
          </a:effectLst>
        </p:spPr>
      </p:sp>
      <p:sp>
        <p:nvSpPr>
          <p:cNvPr id="5" name="Shape 3"/>
          <p:cNvSpPr/>
          <p:nvPr/>
        </p:nvSpPr>
        <p:spPr>
          <a:xfrm>
            <a:off x="868680" y="2212848"/>
            <a:ext cx="457200" cy="457200"/>
          </a:xfrm>
          <a:prstGeom prst="ellipse">
            <a:avLst/>
          </a:prstGeom>
          <a:solidFill>
            <a:srgbClr val="065A82"/>
          </a:solidFill>
          <a:ln/>
        </p:spPr>
      </p:sp>
      <p:sp>
        <p:nvSpPr>
          <p:cNvPr id="6" name="Text 4"/>
          <p:cNvSpPr/>
          <p:nvPr/>
        </p:nvSpPr>
        <p:spPr>
          <a:xfrm>
            <a:off x="868680" y="2212848"/>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600200" y="1993392"/>
            <a:ext cx="9692640" cy="41148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Deploy as a browser extension</a:t>
            </a:r>
            <a:endParaRPr lang="en-US" sz="1600" dirty="0"/>
          </a:p>
        </p:txBody>
      </p:sp>
      <p:sp>
        <p:nvSpPr>
          <p:cNvPr id="8" name="Text 6"/>
          <p:cNvSpPr/>
          <p:nvPr/>
        </p:nvSpPr>
        <p:spPr>
          <a:xfrm>
            <a:off x="1600200" y="2450592"/>
            <a:ext cx="9692640" cy="502920"/>
          </a:xfrm>
          <a:prstGeom prst="rect">
            <a:avLst/>
          </a:prstGeom>
          <a:noFill/>
          <a:ln/>
        </p:spPr>
        <p:txBody>
          <a:bodyPr wrap="square" rtlCol="0" anchor="t"/>
          <a:lstStyle/>
          <a:p>
            <a:pPr marL="0" indent="0">
              <a:buNone/>
            </a:pPr>
            <a:r>
              <a:rPr lang="en-US" sz="1250" dirty="0">
                <a:solidFill>
                  <a:srgbClr val="5B6B7A"/>
                </a:solidFill>
                <a:latin typeface="Calibri" pitchFamily="34" charset="0"/>
                <a:ea typeface="Calibri" pitchFamily="34" charset="-122"/>
                <a:cs typeface="Calibri" pitchFamily="34" charset="-120"/>
              </a:rPr>
              <a:t>Bring real-time URL checks directly into the user's browsing experience.</a:t>
            </a:r>
            <a:endParaRPr lang="en-US" sz="1250" dirty="0"/>
          </a:p>
        </p:txBody>
      </p:sp>
      <p:sp>
        <p:nvSpPr>
          <p:cNvPr id="9" name="Shape 7"/>
          <p:cNvSpPr/>
          <p:nvPr/>
        </p:nvSpPr>
        <p:spPr>
          <a:xfrm>
            <a:off x="548640" y="3291840"/>
            <a:ext cx="11064240" cy="1234440"/>
          </a:xfrm>
          <a:prstGeom prst="roundRect">
            <a:avLst>
              <a:gd name="adj" fmla="val 5926"/>
            </a:avLst>
          </a:prstGeom>
          <a:solidFill>
            <a:srgbClr val="FFFFFF"/>
          </a:solidFill>
          <a:ln w="12700">
            <a:solidFill>
              <a:srgbClr val="E1E8ED"/>
            </a:solidFill>
            <a:prstDash val="solid"/>
          </a:ln>
          <a:effectLst>
            <a:outerShdw blurRad="101600" dist="38100" dir="5400000" algn="bl" rotWithShape="0">
              <a:srgbClr val="365472">
                <a:alpha val="15000"/>
              </a:srgbClr>
            </a:outerShdw>
          </a:effectLst>
        </p:spPr>
      </p:sp>
      <p:sp>
        <p:nvSpPr>
          <p:cNvPr id="10" name="Shape 8"/>
          <p:cNvSpPr/>
          <p:nvPr/>
        </p:nvSpPr>
        <p:spPr>
          <a:xfrm>
            <a:off x="868680" y="3675888"/>
            <a:ext cx="457200" cy="457200"/>
          </a:xfrm>
          <a:prstGeom prst="ellipse">
            <a:avLst/>
          </a:prstGeom>
          <a:solidFill>
            <a:srgbClr val="065A82"/>
          </a:solidFill>
          <a:ln/>
        </p:spPr>
      </p:sp>
      <p:sp>
        <p:nvSpPr>
          <p:cNvPr id="11" name="Text 9"/>
          <p:cNvSpPr/>
          <p:nvPr/>
        </p:nvSpPr>
        <p:spPr>
          <a:xfrm>
            <a:off x="868680" y="3675888"/>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600200" y="3456432"/>
            <a:ext cx="9692640" cy="41148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Train on continuously updated URL datasets</a:t>
            </a:r>
            <a:endParaRPr lang="en-US" sz="1600" dirty="0"/>
          </a:p>
        </p:txBody>
      </p:sp>
      <p:sp>
        <p:nvSpPr>
          <p:cNvPr id="13" name="Text 11"/>
          <p:cNvSpPr/>
          <p:nvPr/>
        </p:nvSpPr>
        <p:spPr>
          <a:xfrm>
            <a:off x="1600200" y="3913632"/>
            <a:ext cx="9692640" cy="502920"/>
          </a:xfrm>
          <a:prstGeom prst="rect">
            <a:avLst/>
          </a:prstGeom>
          <a:noFill/>
          <a:ln/>
        </p:spPr>
        <p:txBody>
          <a:bodyPr wrap="square" rtlCol="0" anchor="t"/>
          <a:lstStyle/>
          <a:p>
            <a:pPr marL="0" indent="0">
              <a:buNone/>
            </a:pPr>
            <a:r>
              <a:rPr lang="en-US" sz="1250" dirty="0">
                <a:solidFill>
                  <a:srgbClr val="5B6B7A"/>
                </a:solidFill>
                <a:latin typeface="Calibri" pitchFamily="34" charset="0"/>
                <a:ea typeface="Calibri" pitchFamily="34" charset="-122"/>
                <a:cs typeface="Calibri" pitchFamily="34" charset="-120"/>
              </a:rPr>
              <a:t>Keep the model current against newly emerging phishing and malware patterns.</a:t>
            </a:r>
            <a:endParaRPr lang="en-US" sz="1250" dirty="0"/>
          </a:p>
        </p:txBody>
      </p:sp>
      <p:sp>
        <p:nvSpPr>
          <p:cNvPr id="14" name="Shape 12"/>
          <p:cNvSpPr/>
          <p:nvPr/>
        </p:nvSpPr>
        <p:spPr>
          <a:xfrm>
            <a:off x="548640" y="4754880"/>
            <a:ext cx="11064240" cy="1234440"/>
          </a:xfrm>
          <a:prstGeom prst="roundRect">
            <a:avLst>
              <a:gd name="adj" fmla="val 5926"/>
            </a:avLst>
          </a:prstGeom>
          <a:solidFill>
            <a:srgbClr val="FFFFFF"/>
          </a:solidFill>
          <a:ln w="12700">
            <a:solidFill>
              <a:srgbClr val="E1E8ED"/>
            </a:solidFill>
            <a:prstDash val="solid"/>
          </a:ln>
          <a:effectLst>
            <a:outerShdw blurRad="101600" dist="38100" dir="5400000" algn="bl" rotWithShape="0">
              <a:srgbClr val="365472">
                <a:alpha val="15000"/>
              </a:srgbClr>
            </a:outerShdw>
          </a:effectLst>
        </p:spPr>
      </p:sp>
      <p:sp>
        <p:nvSpPr>
          <p:cNvPr id="15" name="Shape 13"/>
          <p:cNvSpPr/>
          <p:nvPr/>
        </p:nvSpPr>
        <p:spPr>
          <a:xfrm>
            <a:off x="868680" y="5138928"/>
            <a:ext cx="457200" cy="457200"/>
          </a:xfrm>
          <a:prstGeom prst="ellipse">
            <a:avLst/>
          </a:prstGeom>
          <a:solidFill>
            <a:srgbClr val="065A82"/>
          </a:solidFill>
          <a:ln/>
        </p:spPr>
      </p:sp>
      <p:sp>
        <p:nvSpPr>
          <p:cNvPr id="16" name="Text 14"/>
          <p:cNvSpPr/>
          <p:nvPr/>
        </p:nvSpPr>
        <p:spPr>
          <a:xfrm>
            <a:off x="868680" y="5138928"/>
            <a:ext cx="457200" cy="45720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600200" y="4919472"/>
            <a:ext cx="9692640" cy="411480"/>
          </a:xfrm>
          <a:prstGeom prst="rect">
            <a:avLst/>
          </a:prstGeom>
          <a:noFill/>
          <a:ln/>
        </p:spPr>
        <p:txBody>
          <a:bodyPr wrap="square"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Compare with larger transformer models</a:t>
            </a:r>
            <a:endParaRPr lang="en-US" sz="1600" dirty="0"/>
          </a:p>
        </p:txBody>
      </p:sp>
      <p:sp>
        <p:nvSpPr>
          <p:cNvPr id="18" name="Text 16"/>
          <p:cNvSpPr/>
          <p:nvPr/>
        </p:nvSpPr>
        <p:spPr>
          <a:xfrm>
            <a:off x="1600200" y="5376672"/>
            <a:ext cx="9692640" cy="502920"/>
          </a:xfrm>
          <a:prstGeom prst="rect">
            <a:avLst/>
          </a:prstGeom>
          <a:noFill/>
          <a:ln/>
        </p:spPr>
        <p:txBody>
          <a:bodyPr wrap="square" rtlCol="0" anchor="t"/>
          <a:lstStyle/>
          <a:p>
            <a:pPr marL="0" indent="0">
              <a:buNone/>
            </a:pPr>
            <a:r>
              <a:rPr lang="en-US" sz="1250" dirty="0">
                <a:solidFill>
                  <a:srgbClr val="5B6B7A"/>
                </a:solidFill>
                <a:latin typeface="Calibri" pitchFamily="34" charset="0"/>
                <a:ea typeface="Calibri" pitchFamily="34" charset="-122"/>
                <a:cs typeface="Calibri" pitchFamily="34" charset="-120"/>
              </a:rPr>
              <a:t>Benchmark against BERT-large or RoBERTa to measure the accuracy/speed trade-off.</a:t>
            </a:r>
            <a:endParaRPr lang="en-US" sz="1250" dirty="0"/>
          </a:p>
        </p:txBody>
      </p:sp>
      <p:sp>
        <p:nvSpPr>
          <p:cNvPr id="19" name="Text 17"/>
          <p:cNvSpPr/>
          <p:nvPr/>
        </p:nvSpPr>
        <p:spPr>
          <a:xfrm>
            <a:off x="11475720" y="6446520"/>
            <a:ext cx="548640" cy="274320"/>
          </a:xfrm>
          <a:prstGeom prst="rect">
            <a:avLst/>
          </a:prstGeom>
          <a:noFill/>
          <a:ln/>
        </p:spPr>
        <p:txBody>
          <a:bodyPr wrap="square"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065A82">
              <a:alpha val="35000"/>
            </a:srgbClr>
          </a:solidFill>
          <a:ln/>
        </p:spPr>
      </p:sp>
      <p:sp>
        <p:nvSpPr>
          <p:cNvPr id="3" name="Shape 1"/>
          <p:cNvSpPr/>
          <p:nvPr/>
        </p:nvSpPr>
        <p:spPr>
          <a:xfrm>
            <a:off x="9601200" y="4114800"/>
            <a:ext cx="4572000" cy="4572000"/>
          </a:xfrm>
          <a:prstGeom prst="ellipse">
            <a:avLst/>
          </a:prstGeom>
          <a:solidFill>
            <a:srgbClr val="00C2A8">
              <a:alpha val="18000"/>
            </a:srgbClr>
          </a:solidFill>
          <a:ln/>
        </p:spPr>
      </p:sp>
      <p:sp>
        <p:nvSpPr>
          <p:cNvPr id="4" name="Text 2"/>
          <p:cNvSpPr/>
          <p:nvPr/>
        </p:nvSpPr>
        <p:spPr>
          <a:xfrm>
            <a:off x="0" y="2103120"/>
            <a:ext cx="12161520" cy="1097280"/>
          </a:xfrm>
          <a:prstGeom prst="rect">
            <a:avLst/>
          </a:prstGeom>
          <a:noFill/>
          <a:ln/>
        </p:spPr>
        <p:txBody>
          <a:bodyPr wrap="square"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Text 3"/>
          <p:cNvSpPr/>
          <p:nvPr/>
        </p:nvSpPr>
        <p:spPr>
          <a:xfrm>
            <a:off x="0" y="3154680"/>
            <a:ext cx="12161520" cy="548640"/>
          </a:xfrm>
          <a:prstGeom prst="rect">
            <a:avLst/>
          </a:prstGeom>
          <a:noFill/>
          <a:ln/>
        </p:spPr>
        <p:txBody>
          <a:bodyPr wrap="square" rtlCol="0" anchor="ctr"/>
          <a:lstStyle/>
          <a:p>
            <a:pPr marL="0" indent="0" algn="ctr">
              <a:buNone/>
            </a:pPr>
            <a:r>
              <a:rPr lang="en-US" sz="1800" dirty="0">
                <a:solidFill>
                  <a:srgbClr val="00C2A8"/>
                </a:solidFill>
                <a:latin typeface="Calibri" pitchFamily="34" charset="0"/>
                <a:ea typeface="Calibri" pitchFamily="34" charset="-122"/>
                <a:cs typeface="Calibri" pitchFamily="34" charset="-120"/>
              </a:rPr>
              <a:t>Questions &amp; Discussion</a:t>
            </a:r>
            <a:endParaRPr lang="en-US" sz="1800" dirty="0"/>
          </a:p>
        </p:txBody>
      </p:sp>
      <p:sp>
        <p:nvSpPr>
          <p:cNvPr id="6" name="Text 4"/>
          <p:cNvSpPr/>
          <p:nvPr/>
        </p:nvSpPr>
        <p:spPr>
          <a:xfrm>
            <a:off x="0" y="3931920"/>
            <a:ext cx="12161520" cy="365760"/>
          </a:xfrm>
          <a:prstGeom prst="rect">
            <a:avLst/>
          </a:prstGeom>
          <a:noFill/>
          <a:ln/>
        </p:spPr>
        <p:txBody>
          <a:bodyPr wrap="square" rtlCol="0" anchor="ctr"/>
          <a:lstStyle/>
          <a:p>
            <a:pPr marL="0" indent="0" algn="ctr">
              <a:buNone/>
            </a:pPr>
            <a:r>
              <a:rPr lang="en-US" sz="1200" dirty="0">
                <a:solidFill>
                  <a:srgbClr val="C9D8E3"/>
                </a:solidFill>
                <a:latin typeface="Calibri" pitchFamily="34" charset="0"/>
                <a:ea typeface="Calibri" pitchFamily="34" charset="-122"/>
                <a:cs typeface="Calibri" pitchFamily="34" charset="-120"/>
              </a:rPr>
              <a:t>Hajar Hajd Alharthi  ·  Najla Mohammed Gaashan  ·  Asma Masoud Alshahrani  ·  Rawan Mohammed Alharthi</a:t>
            </a:r>
            <a:endParaRPr lang="en-US" sz="1200" dirty="0"/>
          </a:p>
        </p:txBody>
      </p:sp>
      <p:sp>
        <p:nvSpPr>
          <p:cNvPr id="7" name="Text 5"/>
          <p:cNvSpPr/>
          <p:nvPr/>
        </p:nvSpPr>
        <p:spPr>
          <a:xfrm>
            <a:off x="0" y="4251960"/>
            <a:ext cx="12161520" cy="365760"/>
          </a:xfrm>
          <a:prstGeom prst="rect">
            <a:avLst/>
          </a:prstGeom>
          <a:noFill/>
          <a:ln/>
        </p:spPr>
        <p:txBody>
          <a:bodyPr wrap="square" rtlCol="0" anchor="ctr"/>
          <a:lstStyle/>
          <a:p>
            <a:pPr marL="0" indent="0" algn="ctr">
              <a:buNone/>
            </a:pPr>
            <a:r>
              <a:rPr lang="en-US" sz="1200" dirty="0">
                <a:solidFill>
                  <a:srgbClr val="C9D8E3"/>
                </a:solidFill>
                <a:latin typeface="Calibri" pitchFamily="34" charset="0"/>
                <a:ea typeface="Calibri" pitchFamily="34" charset="-122"/>
                <a:cs typeface="Calibri" pitchFamily="34" charset="-120"/>
              </a:rPr>
              <a:t>Rawan Moshabab Alshahrani  ·  Anfal Nasser Al Mashout  ·  Shooq Mohammed  ·  Jana Mohsen Alghamdi</a:t>
            </a:r>
            <a:endParaRPr lang="en-US" sz="1200" dirty="0"/>
          </a:p>
        </p:txBody>
      </p:sp>
      <p:sp>
        <p:nvSpPr>
          <p:cNvPr id="8" name="Text 6"/>
          <p:cNvSpPr/>
          <p:nvPr/>
        </p:nvSpPr>
        <p:spPr>
          <a:xfrm>
            <a:off x="0" y="4754880"/>
            <a:ext cx="12161520" cy="365760"/>
          </a:xfrm>
          <a:prstGeom prst="rect">
            <a:avLst/>
          </a:prstGeom>
          <a:noFill/>
          <a:ln/>
        </p:spPr>
        <p:txBody>
          <a:bodyPr wrap="square" rtlCol="0" anchor="ctr"/>
          <a:lstStyle/>
          <a:p>
            <a:pPr marL="0" indent="0" algn="ctr">
              <a:buNone/>
            </a:pPr>
            <a:r>
              <a:rPr lang="en-US" sz="1250" i="1" dirty="0">
                <a:solidFill>
                  <a:srgbClr val="9FB4C4"/>
                </a:solidFill>
                <a:latin typeface="Calibri" pitchFamily="34" charset="0"/>
                <a:ea typeface="Calibri" pitchFamily="34" charset="-122"/>
                <a:cs typeface="Calibri" pitchFamily="34" charset="-120"/>
              </a:rPr>
              <a:t>Supervised by Dr. Ali Almaliki</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16</Slides>
  <Notes>15</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Hajar Alharthi</cp:lastModifiedBy>
  <cp:revision>2</cp:revision>
  <dcterms:created xsi:type="dcterms:W3CDTF">2026-07-22T20:31:16Z</dcterms:created>
  <dcterms:modified xsi:type="dcterms:W3CDTF">2026-07-31T01:24:17Z</dcterms:modified>
</cp:coreProperties>
</file>